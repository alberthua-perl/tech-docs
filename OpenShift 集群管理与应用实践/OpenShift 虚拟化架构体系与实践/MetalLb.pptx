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ea081961d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ea081961d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ea081961d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ea081961d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ea081961d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ea081961d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ea081961d8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ea081961d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ea081961d8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ea081961d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ea081961d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ea081961d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ea081961d8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ea081961d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a081961d8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a081961d8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ea081961d8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ea081961d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ea081961d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ea081961d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ea081961d8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ea081961d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redhat.com/en/blog/advanced-metallb-configuration" TargetMode="External"/><Relationship Id="rId4" Type="http://schemas.openxmlformats.org/officeDocument/2006/relationships/hyperlink" Target="https://docs.openshift.com/container-platform/4.14/networking/metallb/about-metallb.html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094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MetalLb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65500" y="4021600"/>
            <a:ext cx="4991700" cy="10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880"/>
              <a:t>Reference:</a:t>
            </a:r>
            <a:endParaRPr sz="88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880" u="sng">
                <a:solidFill>
                  <a:schemeClr val="hlink"/>
                </a:solidFill>
                <a:hlinkClick r:id="rId3"/>
              </a:rPr>
              <a:t>https://www.redhat.com/en/blog/advanced-metallb-configuration</a:t>
            </a:r>
            <a:endParaRPr sz="88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880" u="sng">
                <a:solidFill>
                  <a:schemeClr val="hlink"/>
                </a:solidFill>
                <a:hlinkClick r:id="rId4"/>
              </a:rPr>
              <a:t>https://docs.openshift.com/container-platform/4.14/networking/metallb/about-metallb.html</a:t>
            </a:r>
            <a:endParaRPr sz="88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88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256725" y="328850"/>
            <a:ext cx="8540400" cy="38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MetalLB is valuable 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Bare-metal cluster, or an infrastructure that is like bare metal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Fault-tolerant access to an application through an external IP address.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Ensure that network traffic for the external IP address is routed from clients to the host network for the cluster.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MetalLB operates in two modes 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Layer 2 by using Address Resolution Protocol (ARP) 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Layer 3 by using Border Gateway Protocol (BGP)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Service Type: LoadBalancer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A service of type LoadBalancer requires two things:</a:t>
            </a:r>
            <a:endParaRPr/>
          </a:p>
          <a:p>
            <a:pPr indent="-317500" lvl="2" marL="1371600" rtl="0" algn="just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A virtual IP that can be used to reach the service</a:t>
            </a:r>
            <a:endParaRPr/>
          </a:p>
          <a:p>
            <a:pPr indent="-317500" lvl="2" marL="1371600" rtl="0" algn="just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A way to advertise the IP address, so that the traffic directed to it can reach the nodes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MetalLB Operator 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325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Char char="❏"/>
            </a:pPr>
            <a:r>
              <a:rPr lang="en" sz="1350"/>
              <a:t>Namespace: metallb-system </a:t>
            </a:r>
            <a:endParaRPr sz="1350"/>
          </a:p>
          <a:p>
            <a:pPr indent="-314325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Char char="❏"/>
            </a:pPr>
            <a:r>
              <a:rPr lang="en" sz="1350"/>
              <a:t>Custom Resources</a:t>
            </a:r>
            <a:endParaRPr sz="1350"/>
          </a:p>
          <a:p>
            <a:pPr indent="-314325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Char char="❏"/>
            </a:pPr>
            <a:r>
              <a:rPr lang="en" sz="1350"/>
              <a:t>MetalLB</a:t>
            </a:r>
            <a:endParaRPr sz="1350"/>
          </a:p>
          <a:p>
            <a:pPr indent="-314325" lvl="2" marL="1371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Char char="❏"/>
            </a:pPr>
            <a:r>
              <a:rPr lang="en" sz="1350"/>
              <a:t>Main instance that the MetalLB operator deploys.</a:t>
            </a:r>
            <a:endParaRPr sz="1350"/>
          </a:p>
          <a:p>
            <a:pPr indent="-314325" lvl="2" marL="1371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Char char="❏"/>
            </a:pPr>
            <a:r>
              <a:rPr lang="en" sz="1350"/>
              <a:t>Operator only supports a single instance of the custom resource.</a:t>
            </a:r>
            <a:endParaRPr sz="1350"/>
          </a:p>
          <a:p>
            <a:pPr indent="-314325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Char char="❏"/>
            </a:pPr>
            <a:r>
              <a:rPr lang="en" sz="1350"/>
              <a:t>IPAddressPool</a:t>
            </a:r>
            <a:endParaRPr sz="1350"/>
          </a:p>
          <a:p>
            <a:pPr indent="-314325" lvl="2" marL="1371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Char char="❏"/>
            </a:pPr>
            <a:r>
              <a:rPr lang="en" sz="1350"/>
              <a:t>Range of IP addresses that MetalLB can allocate to the load balancer services.</a:t>
            </a:r>
            <a:endParaRPr sz="1350"/>
          </a:p>
          <a:p>
            <a:pPr indent="-142875" lvl="2" marL="7429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Char char="❏"/>
            </a:pPr>
            <a:r>
              <a:rPr lang="en" sz="1350"/>
              <a:t>L2Advertisement</a:t>
            </a:r>
            <a:endParaRPr sz="1350"/>
          </a:p>
          <a:p>
            <a:pPr indent="-314325" lvl="3" marL="1371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Char char="❏"/>
            </a:pPr>
            <a:r>
              <a:rPr lang="en" sz="1350"/>
              <a:t>Advertises an IP coming from an IPAddressPool using the L2 protocol.</a:t>
            </a:r>
            <a:endParaRPr sz="1350"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3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302900" y="865175"/>
            <a:ext cx="8499900" cy="32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4325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Char char="❏"/>
            </a:pPr>
            <a:r>
              <a:rPr lang="en" sz="1350"/>
              <a:t>BGPPeer</a:t>
            </a:r>
            <a:endParaRPr sz="1350"/>
          </a:p>
          <a:p>
            <a:pPr indent="-314325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Char char="❏"/>
            </a:pPr>
            <a:r>
              <a:rPr lang="en" sz="1350"/>
              <a:t>Identifies the BGP router for MetalLB to communicate with, the AS number of the router, the AS number for MetalLB, and customizations for route advertisement. </a:t>
            </a:r>
            <a:endParaRPr sz="1350"/>
          </a:p>
          <a:p>
            <a:pPr indent="-314325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Char char="❏"/>
            </a:pPr>
            <a:r>
              <a:rPr lang="en" sz="1350"/>
              <a:t>MetalLB advertises the routes for service load-balancer IP addresses to one or more BGP peers.</a:t>
            </a:r>
            <a:endParaRPr sz="1350"/>
          </a:p>
          <a:p>
            <a:pPr indent="-314325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Char char="❏"/>
            </a:pPr>
            <a:r>
              <a:rPr lang="en" sz="1350"/>
              <a:t>BFDProfile</a:t>
            </a:r>
            <a:endParaRPr sz="1350"/>
          </a:p>
          <a:p>
            <a:pPr indent="-314325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Char char="❏"/>
            </a:pPr>
            <a:r>
              <a:rPr lang="en" sz="1350"/>
              <a:t>Configures Bidirectional Forwarding Detection (BFD) for a BGP peer. </a:t>
            </a:r>
            <a:endParaRPr sz="1350"/>
          </a:p>
          <a:p>
            <a:pPr indent="-314325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Char char="❏"/>
            </a:pPr>
            <a:r>
              <a:rPr lang="en" sz="1350"/>
              <a:t>BFD provides faster path failure detection than BGP alone provides.</a:t>
            </a:r>
            <a:endParaRPr sz="1350"/>
          </a:p>
          <a:p>
            <a:pPr indent="-314325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Char char="❏"/>
            </a:pPr>
            <a:r>
              <a:rPr lang="en" sz="1350"/>
              <a:t>BGPAdvertisement</a:t>
            </a:r>
            <a:endParaRPr sz="1350"/>
          </a:p>
          <a:p>
            <a:pPr indent="-314325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Char char="❏"/>
            </a:pPr>
            <a:r>
              <a:rPr lang="en" sz="1350"/>
              <a:t>Advertises an IP coming from an IPAddressPool using the BGP protocol.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MetalLB software components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C</a:t>
            </a:r>
            <a:r>
              <a:rPr lang="en"/>
              <a:t>ontroller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Manages the allocation of IP addresses.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S</a:t>
            </a:r>
            <a:r>
              <a:rPr lang="en"/>
              <a:t>peaker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Announces routes to the external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Daemon set 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Can limit by specifying a node selector in the MetalLB custom resource at start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2 MODE </a:t>
            </a:r>
            <a:r>
              <a:rPr lang="en"/>
              <a:t>WORKFLOW</a:t>
            </a:r>
            <a:endParaRPr/>
          </a:p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Step 1: </a:t>
            </a:r>
            <a:r>
              <a:rPr lang="en"/>
              <a:t>Service Creation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Kubernetes service of type LoadBalancer is created.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Step 2: Controller Action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MetalLB Controller detects the creation and assigns an IP address from the configured pool.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Step 3: ARP Announcement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Speaker pod on </a:t>
            </a:r>
            <a:r>
              <a:rPr b="1" lang="en">
                <a:solidFill>
                  <a:srgbClr val="FF0000"/>
                </a:solidFill>
              </a:rPr>
              <a:t>one node</a:t>
            </a:r>
            <a:r>
              <a:rPr lang="en"/>
              <a:t> associated with the service sends ARP announcements for the allocated IP address.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Speaker pod that announces the external IP address must be on the same node as an endpoint for the service and the endpoint must be in the Ready condition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Step 4: Network Traffic Handling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Switches in the network learn the MAC address associated with the IP via ARP.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Direct traffic to the appropriate node running the service.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058371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3 MODE WORKFLOW</a:t>
            </a:r>
            <a:endParaRPr/>
          </a:p>
        </p:txBody>
      </p:sp>
      <p:sp>
        <p:nvSpPr>
          <p:cNvPr id="94" name="Google Shape;94;p20"/>
          <p:cNvSpPr txBox="1"/>
          <p:nvPr>
            <p:ph idx="1" type="body"/>
          </p:nvPr>
        </p:nvSpPr>
        <p:spPr>
          <a:xfrm>
            <a:off x="311700" y="1152475"/>
            <a:ext cx="8482500" cy="34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21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90"/>
              <a:buChar char="❏"/>
            </a:pPr>
            <a:r>
              <a:rPr lang="en" sz="1490"/>
              <a:t>Step 1: Service Creation</a:t>
            </a:r>
            <a:endParaRPr sz="1490"/>
          </a:p>
          <a:p>
            <a:pPr indent="-323215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90"/>
              <a:buChar char="❏"/>
            </a:pPr>
            <a:r>
              <a:rPr lang="en" sz="1490"/>
              <a:t>Kubernetes service of type LoadBalancer is created.</a:t>
            </a:r>
            <a:endParaRPr sz="1490"/>
          </a:p>
          <a:p>
            <a:pPr indent="-32321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90"/>
              <a:buChar char="❏"/>
            </a:pPr>
            <a:r>
              <a:rPr lang="en" sz="1490"/>
              <a:t>Step 2: Controller Action</a:t>
            </a:r>
            <a:endParaRPr sz="1490"/>
          </a:p>
          <a:p>
            <a:pPr indent="-323215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90"/>
              <a:buChar char="❏"/>
            </a:pPr>
            <a:r>
              <a:rPr lang="en" sz="1490"/>
              <a:t>MetalLB Controller detects the creation and selects an IP address from the configured pool.</a:t>
            </a:r>
            <a:endParaRPr sz="1490"/>
          </a:p>
          <a:p>
            <a:pPr indent="-32321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90"/>
              <a:buChar char="❏"/>
            </a:pPr>
            <a:r>
              <a:rPr lang="en" sz="1490"/>
              <a:t>Step 3: BGP Announcement</a:t>
            </a:r>
            <a:endParaRPr sz="1490"/>
          </a:p>
          <a:p>
            <a:pPr indent="-323215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90"/>
              <a:buChar char="❏"/>
            </a:pPr>
            <a:r>
              <a:rPr lang="en" sz="1490"/>
              <a:t>By default </a:t>
            </a:r>
            <a:r>
              <a:rPr lang="en" sz="1490">
                <a:solidFill>
                  <a:srgbClr val="00FF00"/>
                </a:solidFill>
              </a:rPr>
              <a:t>each speaker pod</a:t>
            </a:r>
            <a:r>
              <a:rPr lang="en" sz="1490"/>
              <a:t> advertises the load balancer IP address for a service to each BGP peer.</a:t>
            </a:r>
            <a:endParaRPr sz="1490"/>
          </a:p>
          <a:p>
            <a:pPr indent="-32321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90"/>
              <a:buChar char="❏"/>
            </a:pPr>
            <a:r>
              <a:rPr lang="en" sz="1490"/>
              <a:t>Step 4: Network Traffic Handling</a:t>
            </a:r>
            <a:endParaRPr sz="1490"/>
          </a:p>
          <a:p>
            <a:pPr indent="-323215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90"/>
              <a:buChar char="❏"/>
            </a:pPr>
            <a:r>
              <a:rPr lang="en" sz="1490"/>
              <a:t>Upstream routers learn the routes to the IP address via BGP announcements.</a:t>
            </a:r>
            <a:endParaRPr sz="1490"/>
          </a:p>
          <a:p>
            <a:pPr indent="-323215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90"/>
              <a:buChar char="❏"/>
            </a:pPr>
            <a:r>
              <a:rPr lang="en" sz="1490"/>
              <a:t>When a router receives traffic for the load balancer IP address, the router picks one of the nodes with a speaker pod that advertised the IP address. </a:t>
            </a:r>
            <a:endParaRPr sz="1490"/>
          </a:p>
          <a:p>
            <a:pPr indent="-323215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90"/>
              <a:buChar char="❏"/>
            </a:pPr>
            <a:r>
              <a:rPr lang="en" sz="1490"/>
              <a:t>Router sends the traffic to that node.</a:t>
            </a:r>
            <a:r>
              <a:rPr lang="en" sz="1490"/>
              <a:t>Service</a:t>
            </a:r>
            <a:r>
              <a:rPr lang="en" sz="1490"/>
              <a:t> proxy distribute the traffic to all pods.</a:t>
            </a:r>
            <a:endParaRPr sz="1490"/>
          </a:p>
          <a:p>
            <a:pPr indent="-323215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90"/>
              <a:buChar char="❏"/>
            </a:pPr>
            <a:r>
              <a:rPr lang="en" sz="1490"/>
              <a:t>Load balancing </a:t>
            </a:r>
            <a:endParaRPr sz="149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6975" y="0"/>
            <a:ext cx="6681149" cy="5002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MetalLB and external traffic policy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2"/>
          <p:cNvSpPr txBox="1"/>
          <p:nvPr>
            <p:ph idx="1" type="body"/>
          </p:nvPr>
        </p:nvSpPr>
        <p:spPr>
          <a:xfrm>
            <a:off x="311700" y="1161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layer 2 mode, one node in your cluster receives all the traffic for the service IP address.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With layer 3 mode, a router on the host network opens a connection to one of the nodes in the cluster for a new client connection.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Cluster handles the traffic after it enters the node is affected by the </a:t>
            </a:r>
            <a:r>
              <a:rPr b="1" lang="en"/>
              <a:t>external traffic policy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r>
              <a:rPr lang="en"/>
              <a:t>xternal traffic policy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b="1" lang="en"/>
              <a:t>C</a:t>
            </a:r>
            <a:r>
              <a:rPr b="1" lang="en"/>
              <a:t>luster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Default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With the cluster traffic policy, after the node receives the traffic, the service proxy distributes the traffic to all the pods in your service.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Provides uniform traffic distribution across the pods,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Obscures the client IP address and it can appear to the application in your pods that the traffic originates from the node rather than the client.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b="1" lang="en"/>
              <a:t>Local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Service proxy only sends traffic to the pods on the same node traffic receives 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Pods for the service on additional nodes act as replicas in case failover is needed.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Application pods can determine the client IP address from the incoming connections.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Limitations for layer 2 mode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Single-node bottleneck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No Loadbalancing on node but failover is automatic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Slow failover performance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Limitations for layer 3 mode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Node failure can break all active connections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Support for a single ASN and a single router ID only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