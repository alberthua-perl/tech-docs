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Oswald"/>
      <p:regular r:id="rId16"/>
      <p:bold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Oswald-bold.fntdata"/><Relationship Id="rId16" Type="http://schemas.openxmlformats.org/officeDocument/2006/relationships/font" Target="fonts/Oswald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ea602a63b9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ea602a63b9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ea602a63b9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ea602a63b9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ea602a63b9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ea602a63b9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ea602a63b9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ea602a63b9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ea602a63b9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ea602a63b9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ea602a63b9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2ea602a63b9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ea602a63b9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ea602a63b9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ea602a63b9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ea602a63b9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ea602a63b9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2ea602a63b9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ea602a63b9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2ea602a63b9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www.opensourcerers.org/2024/06/21/openshift-virtualization/" TargetMode="External"/><Relationship Id="rId4" Type="http://schemas.openxmlformats.org/officeDocument/2006/relationships/hyperlink" Target="https://opensource.com/article/21/6/migrate-vms-kubernetes-forklift" TargetMode="External"/><Relationship Id="rId5" Type="http://schemas.openxmlformats.org/officeDocument/2006/relationships/hyperlink" Target="https://docs.redhat.com/en/documentation/migration_toolkit_for_virtualization/2.6/html-single/release_notes/index#rn-26_release-notes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Migration Tool Kit for Virtualization</a:t>
            </a:r>
            <a:endParaRPr/>
          </a:p>
        </p:txBody>
      </p:sp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1.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https://www.opensourcerers.org/2024/06/21/openshift-virtualization/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2.</a:t>
            </a:r>
            <a:r>
              <a:rPr lang="en" u="sng">
                <a:solidFill>
                  <a:schemeClr val="hlink"/>
                </a:solidFill>
                <a:hlinkClick r:id="rId4"/>
              </a:rPr>
              <a:t>https://opensource.com/article/21/6/migrate-vms-kubernetes-forklift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3.</a:t>
            </a:r>
            <a:r>
              <a:rPr lang="en" u="sng">
                <a:solidFill>
                  <a:schemeClr val="hlink"/>
                </a:solidFill>
                <a:hlinkClick r:id="rId5"/>
              </a:rPr>
              <a:t>https://docs.redhat.com/en/documentation/migration_toolkit_for_virtualization/2.6/html-single/release_notes/index#rn-26_release-notes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MTV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M</a:t>
            </a:r>
            <a:r>
              <a:rPr lang="en"/>
              <a:t>igrate multiple VMs from a compatible hypervisor.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en"/>
              <a:t>VMware vSphere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en"/>
              <a:t>Red Hat Virtualization (RHV)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en"/>
              <a:t>OpenStack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en"/>
              <a:t>Open Virtual Appliances (OVAs) that were created by VMware vSphere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en"/>
              <a:t>Remote OpenShift Virtualization clusters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MTV Operator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Latest version 2.6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Forklift is the upstream version.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Namespace: openshift-mtv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Can migrate VMs to an OpenShift Virtualization cluster only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311700" y="215600"/>
            <a:ext cx="8520600" cy="435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❏"/>
            </a:pPr>
            <a:r>
              <a:rPr lang="en"/>
              <a:t>MTV provides two migration types: cold migration and warm migration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Cold migration</a:t>
            </a:r>
            <a:endParaRPr b="1"/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❏"/>
            </a:pPr>
            <a:r>
              <a:rPr lang="en"/>
              <a:t>Cold migration is the default migration type. 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❏"/>
            </a:pPr>
            <a:r>
              <a:rPr lang="en"/>
              <a:t>The source VM is shut down, and then the data is transferred to the target OpenShift cluster. After the transfer is complete, the VM is powered on, in OpenShift Virtualization.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Warm migration</a:t>
            </a:r>
            <a:endParaRPr b="1"/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❏"/>
            </a:pPr>
            <a:r>
              <a:rPr lang="en"/>
              <a:t>Warm migration handles the migration in two stages: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❏"/>
            </a:pPr>
            <a:r>
              <a:rPr lang="en"/>
              <a:t>The </a:t>
            </a:r>
            <a:r>
              <a:rPr b="1" lang="en"/>
              <a:t>precopy stage </a:t>
            </a:r>
            <a:r>
              <a:rPr lang="en"/>
              <a:t>uses snapshots on the source VM provider to copy the VM data while the VM is running.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❏"/>
            </a:pPr>
            <a:r>
              <a:rPr lang="en"/>
              <a:t>The </a:t>
            </a:r>
            <a:r>
              <a:rPr b="1" lang="en"/>
              <a:t>cutover stage</a:t>
            </a:r>
            <a:r>
              <a:rPr lang="en"/>
              <a:t> shuts down the VM and copies the remaining data to the target cluster. 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❏"/>
            </a:pPr>
            <a:r>
              <a:rPr lang="en"/>
              <a:t>The VM is then started on OpenShift Virtualization. You can manually start the cutover stage from the web console, or you can schedule a cutover time in the migration plan.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3" name="Google Shape;7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538" y="142875"/>
            <a:ext cx="8924925" cy="4857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0" name="Google Shape;8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8125" y="91200"/>
            <a:ext cx="5554450" cy="221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8125" y="2304750"/>
            <a:ext cx="5554451" cy="257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High-level migration workflow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7" name="Google Shape;8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6525" y="1152475"/>
            <a:ext cx="5814750" cy="385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4" name="Google Shape;9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7075" y="37863"/>
            <a:ext cx="8649850" cy="5067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Detailed OpenShift Virtualization migration workflow</a:t>
            </a:r>
            <a:endParaRPr/>
          </a:p>
        </p:txBody>
      </p:sp>
      <p:sp>
        <p:nvSpPr>
          <p:cNvPr id="100" name="Google Shape;100;p20"/>
          <p:cNvSpPr txBox="1"/>
          <p:nvPr>
            <p:ph idx="1" type="body"/>
          </p:nvPr>
        </p:nvSpPr>
        <p:spPr>
          <a:xfrm>
            <a:off x="311700" y="1152475"/>
            <a:ext cx="8728500" cy="39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Oswald"/>
              <a:buAutoNum type="arabicPeriod"/>
            </a:pPr>
            <a:r>
              <a:rPr lang="en" sz="11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When you run a migration plan, the Migration Controller creates a VirtualMachineImport custom resource (CR) for each source VM.</a:t>
            </a:r>
            <a:endParaRPr sz="110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Oswald"/>
              <a:buAutoNum type="arabicPeriod"/>
            </a:pPr>
            <a:r>
              <a:rPr lang="en" sz="11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The Virtual Machine Import Controller validates the VirtualMachineImport CR and generates a VirtualMachine CR.</a:t>
            </a:r>
            <a:endParaRPr sz="110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Oswald"/>
              <a:buAutoNum type="arabicPeriod"/>
            </a:pPr>
            <a:r>
              <a:rPr lang="en" sz="11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The Virtual Machine Import Controller retrieves the VM configuration, including network, storage, and metadata, linked in the VirtualMachineImport CR.</a:t>
            </a:r>
            <a:endParaRPr sz="110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For each VM disk:</a:t>
            </a:r>
            <a:endParaRPr sz="110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Oswald"/>
              <a:buAutoNum type="arabicPeriod"/>
            </a:pPr>
            <a:r>
              <a:rPr lang="en" sz="11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The Virtual Machine Import Controller creates a DataVolume CR as a wrapper for a Persistent Volume Claim (PVC) and annotations.</a:t>
            </a:r>
            <a:endParaRPr sz="110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Oswald"/>
              <a:buAutoNum type="arabicPeriod"/>
            </a:pPr>
            <a:r>
              <a:rPr lang="en" sz="11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The Containerized Data Importer (CDI) Controller creates a PVC. The Persistent Volume (PV) is dynamically provisioned by the StorageClass provisioner.</a:t>
            </a:r>
            <a:endParaRPr sz="110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Oswald"/>
              <a:buAutoNum type="arabicPeriod"/>
            </a:pPr>
            <a:r>
              <a:rPr lang="en" sz="11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The CDI Controller creates an Importer pod.</a:t>
            </a:r>
            <a:endParaRPr sz="110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Oswald"/>
              <a:buAutoNum type="arabicPeriod"/>
            </a:pPr>
            <a:r>
              <a:rPr lang="en" sz="11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The Importer pod connects to the VM disk by using the VMware Virtual Disk Development Kit (VDDK) SDK and streams the VM disk to the PV.</a:t>
            </a:r>
            <a:endParaRPr sz="110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After the VM disks are transferred:</a:t>
            </a:r>
            <a:endParaRPr sz="110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Oswald"/>
              <a:buAutoNum type="arabicPeriod"/>
            </a:pPr>
            <a:r>
              <a:rPr lang="en" sz="11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The Virtual Machine Import Controller creates a Conversion pod with the PVCs attached to it.</a:t>
            </a:r>
            <a:endParaRPr sz="110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Oswald"/>
              <a:buAutoNum type="arabicPeriod"/>
            </a:pPr>
            <a:r>
              <a:rPr lang="en" sz="11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The Conversion pod runs </a:t>
            </a:r>
            <a:r>
              <a:rPr b="1" lang="en" sz="11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virt-v2v</a:t>
            </a:r>
            <a:r>
              <a:rPr lang="en" sz="11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, which installs and configures device drivers on the PVCs of the target VM.</a:t>
            </a:r>
            <a:endParaRPr sz="110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Oswald"/>
              <a:buAutoNum type="arabicPeriod"/>
            </a:pPr>
            <a:r>
              <a:rPr lang="en" sz="11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The Virtual Machine Import Controller creates a VirtualMachineInstance CR.</a:t>
            </a:r>
            <a:endParaRPr sz="110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Oswald"/>
              <a:buAutoNum type="arabicPeriod"/>
            </a:pPr>
            <a:r>
              <a:rPr lang="en" sz="11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When the target VM is powered on, the KubeVirt Controller creates a VM pod.</a:t>
            </a:r>
            <a:endParaRPr sz="110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Oswald"/>
              <a:buAutoNum type="arabicPeriod"/>
            </a:pPr>
            <a:r>
              <a:rPr lang="en" sz="11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The VM pod runs QEMU-KVM with the PVCs attached as VM disks.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3937"/>
            <a:ext cx="5910671" cy="5095625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21"/>
          <p:cNvSpPr txBox="1"/>
          <p:nvPr/>
        </p:nvSpPr>
        <p:spPr>
          <a:xfrm>
            <a:off x="5958025" y="77000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AutoNum type="arabicPeriod"/>
            </a:pPr>
            <a:r>
              <a:t/>
            </a:r>
            <a:endParaRPr b="1" sz="11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To clean up the temporary resources that the MTV creates during the migration, such as the migration pods and temporary PVCs, you must archive the migration plan.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Removing a migration plan does not clean up temporary resources.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Temporary migration resources might prevent some VM operations such as VM snapshots.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