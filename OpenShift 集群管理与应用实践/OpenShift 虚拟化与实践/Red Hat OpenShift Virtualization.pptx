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" Target="slides/slide3.xml"/><Relationship Id="rId59" Type="http://schemas.openxmlformats.org/officeDocument/2006/relationships/presProps" Target="presProps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99354a358_0_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e99354a358_0_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9a14b4d7a_0_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9a14b4d7a_0_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9a14b4d7a_0_2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9a14b4d7a_0_2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99354a358_0_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99354a358_0_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9a14b4d7a_0_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e9a14b4d7a_0_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e9a14b4d7a_0_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e9a14b4d7a_0_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e9a14b4d7a_0_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e9a14b4d7a_0_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9a14b4d7a_0_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e9a14b4d7a_0_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9a14b4d7a_0_1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e9a14b4d7a_0_1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9a14b4d7a_0_1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9a14b4d7a_0_1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9a14b4d7a_0_1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e9a14b4d7a_0_1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9a14b4d7a_0_1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9a14b4d7a_0_1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e9a14b4d7a_0_1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e9a14b4d7a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e9a14b4d7a_0_1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e9a14b4d7a_0_1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9a14b4d7a_0_1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e9a14b4d7a_0_1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e9a14b4d7a_0_1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e9a14b4d7a_0_1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e9a14b4d7a_0_1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e9a14b4d7a_0_1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9a14b4d7a_0_2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e9a14b4d7a_0_2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9a14b4d7a_0_1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e9a14b4d7a_0_1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e9a14b4d7a_0_1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e9a14b4d7a_0_1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e9a14b4d7a_0_2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e9a14b4d7a_0_2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9a14b4d7a_0_1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9a14b4d7a_0_1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e9a14b4d7a_0_2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e9a14b4d7a_0_2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e9a14b4d7a_0_2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e9a14b4d7a_0_2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e9a14b4d7a_0_1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e9a14b4d7a_0_1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e9a14b4d7a_0_2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e9a14b4d7a_0_2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e9a14b4d7a_0_2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e9a14b4d7a_0_2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e9a14b4d7a_0_1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e9a14b4d7a_0_1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e9a14b4d7a_0_2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e9a14b4d7a_0_2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e9a14b4d7a_0_2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e9a14b4d7a_0_2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e9a14b4d7a_0_1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e9a14b4d7a_0_1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e9a14b4d7a_0_2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e9a14b4d7a_0_2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e9a14b4d7a_0_2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e9a14b4d7a_0_2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e9a14b4d7a_0_2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e9a14b4d7a_0_2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e9a14b4d7a_0_2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e9a14b4d7a_0_2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e9a14b4d7a_0_2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e9a14b4d7a_0_2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e9a14b4d7a_0_2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e9a14b4d7a_0_2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e9f3c98ea1_0_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e9f3c98ea1_0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e9f3c98ea1_0_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e9f3c98ea1_0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e9f3c98ea1_0_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e9f3c98ea1_0_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e9f3c98ea1_0_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e9f3c98ea1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e9f3c98ea1_0_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e9f3c98ea1_0_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e9f3c98ea1_0_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e9f3c98ea1_0_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e9f3c98ea1_0_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e9f3c98ea1_0_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e9f3c98ea1_0_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e9f3c98ea1_0_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e9f3c98ea1_0_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e9f3c98ea1_0_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e9f3c98ea1_0_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e9f3c98ea1_0_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ea5bbd4e6f_0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ea5bbd4e6f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ea5bbd4e6f_0_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ea5bbd4e6f_0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ea5bbd4e6f_0_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ea5bbd4e6f_0_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ea5bbd4e6f_0_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ea5bbd4e6f_0_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ea5bbd4e6f_0_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ea5bbd4e6f_0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eabed36283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eabed36283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76dcffd273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76dcffd273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docs.google.com/presentation/d/1r4dCx1bdDOXsIgASG2khPwgOaSjqYZrxlQVsIoCmwFw/edit?usp=sharing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google.com/presentation/d/1uJOSW-5Vv36Ng7wLLONVydGZCZ6MoFSuF8z6MjHQ7Yg/edit?usp=sharing" TargetMode="External"/><Relationship Id="rId2" Type="http://schemas.openxmlformats.org/officeDocument/2006/relationships/hyperlink" Target="https://docs.google.com/presentation/d/14624JDH6-V8fNb6bqMzfp1EJ3xGaMmaV8_wOpwM70L4/edit?usp=sharing" TargetMode="External"/><Relationship Id="rId1" Type="http://schemas.openxmlformats.org/officeDocument/2006/relationships/hyperlink" Target="https://docs.google.com/presentation/d/16IvbiyJ5gDUv2C9sNSmnEpjUfNeYEQiBOnQkcR75gR4/edit?usp=sharing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docs.google.com/presentation/d/14624JDH6-V8fNb6bqMzfp1EJ3xGaMmaV8_wOpwM70L4/edit?usp=sharing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docs.google.com/presentation/d/10mqwsnZr8t5i7qpb_1VW-404CJwnbefEh-fzraBTiKk/edit?usp=sharing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docs.google.com/presentation/d/1lqmdJJA7TKTvv2LpTj4rz4W3auGAL2mnAwxN647hWU0/edit?usp=sharing" TargetMode="Externa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1680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rgbClr val="FF0000"/>
                </a:solidFill>
              </a:rPr>
              <a:t>Red Hat OpenShift Virtualization</a:t>
            </a:r>
            <a:endParaRPr sz="2300" b="1">
              <a:solidFill>
                <a:srgbClr val="FF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55" name="Google Shape;55;p13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" name="Google Shape;61;p14"/>
          <p:cNvSpPr txBox="1"/>
          <p:nvPr>
            <p:ph type="body" idx="1"/>
          </p:nvPr>
        </p:nvSpPr>
        <p:spPr>
          <a:xfrm>
            <a:off x="311700" y="1139625"/>
            <a:ext cx="8738100" cy="3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Basics of Virtualization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 u="sng">
                <a:solidFill>
                  <a:schemeClr val="hlink"/>
                </a:solidFill>
                <a:hlinkClick r:id="rId1"/>
              </a:rPr>
              <a:t>https://docs.google.com/presentation/d/1r4dCx1bdDOXsIgASG2khPwgOaSjqYZrxlQVsIoCmwFw/edit?usp=sharing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Red Hat OpenShift Virtualization</a:t>
            </a:r>
            <a:endParaRPr lang="en-GB"/>
          </a:p>
        </p:txBody>
      </p:sp>
      <p:sp>
        <p:nvSpPr>
          <p:cNvPr id="67" name="Google Shape;67;p15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OpenShift Virtualization is an add-on to OpenShift Container Platform 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Red Hat OpenShift Virtualization is a Kubernetes operator on RHOCP.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Based on the KubeVirt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Enables managing VM workloads alongside container workloads.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KubeVirt delivers container-native virtualization by using the Kernel-based Virtual Machine (KVM) Linux Kernel hypervisor within a Kubernetes container. 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Started by Red Hat, KubeVirt is now a Cloud Native Computing Foundation Incubation project and an open source upstream project.</a:t>
            </a:r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you can do with OpenShift Virtualization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16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Creating and managing Linux and Windows virtual machines (VMs)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Running pod and VM workloads alongside each other in a cluster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Connecting to virtual machines through a variety of consoles and CLI tools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Importing and cloning existing virtual machines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Managing network interface controllers and storage disks attached to virtual machines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Live migrating virtual machines between nodes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Migrate from other virtualization Platforms.</a:t>
            </a:r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182830" y="123775"/>
            <a:ext cx="87783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AutoNum type="arabicPeriod"/>
            </a:pPr>
            <a:r>
              <a:rPr lang="en-GB" sz="1800">
                <a:solidFill>
                  <a:schemeClr val="lt2"/>
                </a:solidFill>
              </a:rPr>
              <a:t>The cluster API server communicates with the virt-controller process to orchestrate virtual machine requests.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319915" y="1005040"/>
            <a:ext cx="6503922" cy="393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502285" y="123825"/>
            <a:ext cx="8139430" cy="128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2.</a:t>
            </a:r>
            <a:r>
              <a:rPr lang="en-US" altLang="en-GB" sz="1800">
                <a:solidFill>
                  <a:schemeClr val="lt2"/>
                </a:solidFill>
              </a:rPr>
              <a:t> </a:t>
            </a:r>
            <a:r>
              <a:rPr lang="en-GB" sz="1800">
                <a:solidFill>
                  <a:schemeClr val="lt2"/>
                </a:solidFill>
              </a:rPr>
              <a:t>A DaemonSet pod that contains the virt-handler process coordinates with the VM pod that runs the virt-launcher process to deliver the VM actions.</a:t>
            </a:r>
            <a:endParaRPr sz="18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chemeClr val="lt2"/>
              </a:solidFill>
            </a:endParaRPr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376680" y="1024890"/>
            <a:ext cx="6390640" cy="3770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405130" y="123825"/>
            <a:ext cx="8017510" cy="176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3.</a:t>
            </a:r>
            <a:r>
              <a:rPr lang="en-US" altLang="en-GB" sz="1800">
                <a:solidFill>
                  <a:schemeClr val="lt2"/>
                </a:solidFill>
              </a:rPr>
              <a:t> </a:t>
            </a:r>
            <a:r>
              <a:rPr lang="en-GB" sz="1800">
                <a:solidFill>
                  <a:schemeClr val="lt2"/>
                </a:solidFill>
              </a:rPr>
              <a:t>Within the VM pod, the 'libvirtd' daemon provides the functionality for performing specific VM actions at the kernel level.</a:t>
            </a:r>
            <a:endParaRPr sz="18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chemeClr val="lt2"/>
              </a:solidFill>
            </a:endParaRPr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65275" y="1297940"/>
            <a:ext cx="5882640" cy="354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Virtualization Components</a:t>
            </a:r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virt-api</a:t>
            </a:r>
            <a:endParaRPr lang="en-GB" sz="1800">
              <a:solidFill>
                <a:schemeClr val="lt2"/>
              </a:solidFill>
            </a:endParaRPr>
          </a:p>
        </p:txBody>
      </p:sp>
      <p:sp>
        <p:nvSpPr>
          <p:cNvPr id="102" name="Google Shape;102;p2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A cluster-level component that provides an HTTP RESTful entry point to manage VM and VM-related workflows within the cluster. 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It updates virtualization CRDS and handles defaulting and validating VMI CRDs.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virt-controller</a:t>
            </a:r>
            <a:endParaRPr lang="en-GB" sz="1800">
              <a:solidFill>
                <a:schemeClr val="lt2"/>
              </a:solidFill>
            </a:endParaRPr>
          </a:p>
        </p:txBody>
      </p:sp>
      <p:sp>
        <p:nvSpPr>
          <p:cNvPr id="108" name="Google Shape;108;p22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457200" lvl="0" indent="-334010" algn="l" rtl="0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The virt-controller is a Kubernetes Operator that’s responsible for cluster-wide virtualization functionality. </a:t>
            </a:r>
            <a:endParaRPr lang="en-GB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When new VM objects are posted to the Kubernetes API server, the virt-controller takes notice and creates the pod in which the VM will run. </a:t>
            </a:r>
            <a:endParaRPr lang="en-GB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When the pod is scheduled on a particular node, the virt-controller updates the VM object with the node name, and hands off further responsibilities to a node-specific KubeVirt component, </a:t>
            </a:r>
            <a:r>
              <a:rPr lang="en-GB" b="1"/>
              <a:t>the virt-handler</a:t>
            </a:r>
            <a:r>
              <a:rPr lang="en-GB"/>
              <a:t>, an instance of which runs on every node in the cluster.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virt-handler</a:t>
            </a:r>
            <a:endParaRPr lang="en-GB" sz="1800">
              <a:solidFill>
                <a:schemeClr val="lt2"/>
              </a:solidFill>
            </a:endParaRPr>
          </a:p>
        </p:txBody>
      </p:sp>
      <p:sp>
        <p:nvSpPr>
          <p:cNvPr id="114" name="Google Shape;114;p2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Like the virt-controller, the virt-handler is also reactive, watching for changes to the VM object, and performing all necessary operations to change a VM to meet the required state. 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The virt-handler references the VM specification and signals the creation of a corresponding domain using a libvirtd instance in the VM's pod. 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When a VM object is deleted, the virt-handler observes the deletion and turns off the domain.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virt-launcher</a:t>
            </a:r>
            <a:endParaRPr lang="en-GB" sz="1800">
              <a:solidFill>
                <a:schemeClr val="lt2"/>
              </a:solidFill>
            </a:endParaRPr>
          </a:p>
        </p:txBody>
      </p:sp>
      <p:sp>
        <p:nvSpPr>
          <p:cNvPr id="120" name="Google Shape;120;p2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457200" lvl="0" indent="-334010" algn="l" rtl="0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Every VM object one pod is created. </a:t>
            </a:r>
            <a:endParaRPr lang="en-GB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Pod's primary container runs the virt-launcher KubeVirt component.</a:t>
            </a:r>
            <a:endParaRPr lang="en-GB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 To provide the cgroups and namespaces which will be used to host the VM process.</a:t>
            </a:r>
            <a:endParaRPr lang="en-GB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virt-handler signals virt-launcher to start a VM by passing the VM's CRD object to virt-launcher. </a:t>
            </a:r>
            <a:endParaRPr lang="en-GB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virt-launcher then uses a local libvirtd instance within its container to start the VM. </a:t>
            </a:r>
            <a:endParaRPr lang="en-GB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From there virt-launcher monitors the VM process and terminates once the VM has exited.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libvirtd</a:t>
            </a:r>
            <a:endParaRPr lang="en-GB" sz="1800">
              <a:solidFill>
                <a:schemeClr val="lt2"/>
              </a:solidFill>
            </a:endParaRPr>
          </a:p>
        </p:txBody>
      </p:sp>
      <p:sp>
        <p:nvSpPr>
          <p:cNvPr id="126" name="Google Shape;126;p25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An instance of libvirtd is present in every VM pod. virt-launcher uses libvirtd to manage the life-cycle of the VM process.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OpenShift Virtualization Architecture</a:t>
            </a:r>
            <a:endParaRPr lang="en-GB"/>
          </a:p>
        </p:txBody>
      </p:sp>
      <p:sp>
        <p:nvSpPr>
          <p:cNvPr id="132" name="Google Shape;132;p26"/>
          <p:cNvSpPr txBox="1"/>
          <p:nvPr>
            <p:ph type="body" idx="1"/>
          </p:nvPr>
        </p:nvSpPr>
        <p:spPr>
          <a:xfrm>
            <a:off x="311700" y="1152475"/>
            <a:ext cx="8772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75"/>
              <a:t>The Operator Lifecycle Manager (OLM) deploys operator pods for each component of OpenShift Virtualization:</a:t>
            </a:r>
            <a:endParaRPr sz="267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675" b="1"/>
              <a:t>Compute</a:t>
            </a:r>
            <a:r>
              <a:rPr lang="en-GB" sz="2675"/>
              <a:t>: virt-operator</a:t>
            </a:r>
            <a:endParaRPr sz="267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675" b="1"/>
              <a:t>Storage</a:t>
            </a:r>
            <a:r>
              <a:rPr lang="en-GB" sz="2675"/>
              <a:t>: cdi-operator</a:t>
            </a:r>
            <a:endParaRPr sz="267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675" b="1"/>
              <a:t>Network</a:t>
            </a:r>
            <a:r>
              <a:rPr lang="en-GB" sz="2675"/>
              <a:t>: cluster-network-addons-operator</a:t>
            </a:r>
            <a:endParaRPr sz="267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675" b="1"/>
              <a:t>Scaling and templating</a:t>
            </a:r>
            <a:r>
              <a:rPr lang="en-GB" sz="2675"/>
              <a:t>: ssp-operator</a:t>
            </a:r>
            <a:endParaRPr sz="2675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675"/>
              <a:t>OLM also deploys the hyperconverged-cluster-operator pod, which is responsible for the deployment, configuration, and life cycle of other components, and several helper pods: </a:t>
            </a:r>
            <a:r>
              <a:rPr lang="en-GB" sz="2675" b="1"/>
              <a:t>hco-webhook</a:t>
            </a:r>
            <a:r>
              <a:rPr lang="en-GB" sz="2675"/>
              <a:t>, and </a:t>
            </a:r>
            <a:r>
              <a:rPr lang="en-GB" sz="2675" b="1"/>
              <a:t>hyperconverged-cluster-cli-download</a:t>
            </a:r>
            <a:r>
              <a:rPr lang="en-GB"/>
              <a:t>.</a:t>
            </a:r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" name="Google Shape;138;p27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After all operator pods are successfully deployed, you should create the HyperConverged custom resource (CR). 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configurations set in the HyperConverged CR serve as the single source of truth and the entrypoint for OpenShift Virtualization, and guide the behavior of the CRs.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HyperConverged CR creates corresponding CRs for the operators of all other components within its reconciliation loop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320801" y="100750"/>
            <a:ext cx="6207300" cy="481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8"/>
          <p:cNvSpPr/>
          <p:nvPr/>
        </p:nvSpPr>
        <p:spPr>
          <a:xfrm>
            <a:off x="5233100" y="3669875"/>
            <a:ext cx="2295000" cy="430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HyperConverged Operator (HCO)</a:t>
            </a:r>
            <a:endParaRPr lang="en-GB"/>
          </a:p>
        </p:txBody>
      </p:sp>
      <p:sp>
        <p:nvSpPr>
          <p:cNvPr id="150" name="Google Shape;150;p29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HCO, hco-operator, provides a single entry point for deploying and managing OpenShift Virtualization and several helper operators with opinionated defaults. 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It also creates custom resources (CRs) for those operators.</a:t>
            </a:r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17225" y="495300"/>
            <a:ext cx="8839199" cy="3838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8839201" cy="435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Containerized Data Importer (CDI) Operator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6" name="Google Shape;166;p32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CDI Operator, cdi-operator, manages CDI and its related resources, which imports a virtual machine (VM) image into a persistent volume claim (PVC) by using a data volume.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671150"/>
            <a:ext cx="8839199" cy="3140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8839199" cy="2885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Cluster Network Addons Operator</a:t>
            </a:r>
            <a:endParaRPr lang="en-GB"/>
          </a:p>
        </p:txBody>
      </p:sp>
      <p:sp>
        <p:nvSpPr>
          <p:cNvPr id="182" name="Google Shape;182;p35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The Cluster Network Addons Operator, cluster-network-addons-operator, deploys networking components on a cluster and manages the related resources for extended network functionality.</a:t>
            </a:r>
            <a:endParaRPr 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99650" y="652713"/>
            <a:ext cx="8839199" cy="3838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8839200" cy="3085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Hostpath Provisioner (HPP) Operator</a:t>
            </a:r>
            <a:endParaRPr lang="en-GB"/>
          </a:p>
        </p:txBody>
      </p:sp>
      <p:sp>
        <p:nvSpPr>
          <p:cNvPr id="198" name="Google Shape;198;p38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The HPP Operator, hostpath-provisioner-operator, deploys and manages the multi-node HPP and related resources</a:t>
            </a:r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8839199" cy="3838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4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8839200" cy="2650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Scheduling, Scale, and Performance (SSP) Operator</a:t>
            </a:r>
            <a:endParaRPr lang="en-GB"/>
          </a:p>
        </p:txBody>
      </p:sp>
      <p:sp>
        <p:nvSpPr>
          <p:cNvPr id="214" name="Google Shape;214;p4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The ssp-operator deploys the common templates, the related default boot sources, and the template validator.</a:t>
            </a:r>
            <a:endParaRPr lang="en-GB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05150" y="1040425"/>
            <a:ext cx="8839199" cy="21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4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8839199" cy="154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OpenShift Virtualization Operator</a:t>
            </a:r>
            <a:endParaRPr lang="en-GB"/>
          </a:p>
        </p:txBody>
      </p:sp>
      <p:sp>
        <p:nvSpPr>
          <p:cNvPr id="230" name="Google Shape;230;p4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The OpenShift Virtualization Operator, virt-operator deploys, upgrades, and manages OpenShift Virtualization without disrupting current virtual machine (VM) workloads.</a:t>
            </a:r>
            <a:endParaRPr lang="en-GB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4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8839199" cy="3140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4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723900"/>
            <a:ext cx="8839200" cy="377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Chapter-2</a:t>
            </a:r>
            <a:endParaRPr lang="en-GB"/>
          </a:p>
        </p:txBody>
      </p:sp>
      <p:sp>
        <p:nvSpPr>
          <p:cNvPr id="246" name="Google Shape;246;p47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VM : A VM object specifies the template for a VMI pod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VMI: Running instance of a VM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/>
              <a:t>imilar to the relationship between a deployment and a replica set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Stand-alone VMI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RBAC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Chapter-3</a:t>
            </a:r>
            <a:endParaRPr lang="en-GB"/>
          </a:p>
        </p:txBody>
      </p:sp>
      <p:sp>
        <p:nvSpPr>
          <p:cNvPr id="252" name="Google Shape;252;p48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Kubernetes implements this infrastructure with the use of a Software-Defined Network (SDN), which enables Kubernetes to control the network traffic and the network resources programmatically.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Red Hat OpenShift Container Platform (RHOCP) uses the Cluster Network Operator (CNO) for managing the SDN. The operator calls a plug-in that adheres to the Container Network Interface (CNI) specification to configure container network interfaces.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OVN-Kubernetes provider, which runs the Open vSwitch (OVS) plug-in on each node, is selected by default during the installation process.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Expose application</a:t>
            </a:r>
            <a:endParaRPr lang="en-GB"/>
          </a:p>
        </p:txBody>
      </p:sp>
      <p:sp>
        <p:nvSpPr>
          <p:cNvPr id="258" name="Google Shape;258;p49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57200" lvl="0" indent="-2997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Route</a:t>
            </a:r>
            <a:endParaRPr lang="en-GB"/>
          </a:p>
          <a:p>
            <a:pPr marL="457200" lvl="0" indent="-2997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Ingress </a:t>
            </a:r>
            <a:endParaRPr lang="en-GB"/>
          </a:p>
          <a:p>
            <a:pPr marL="457200" lvl="0" indent="-2997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NodePort </a:t>
            </a:r>
            <a:endParaRPr lang="en-GB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Non-HTTP services .Expose node port ranges 30000 to 32767 on all cluster nodes</a:t>
            </a:r>
            <a:endParaRPr lang="en-GB"/>
          </a:p>
          <a:p>
            <a:pPr marL="457200" lvl="0" indent="-299720" algn="l" rtl="0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LoadBalancer</a:t>
            </a:r>
            <a:endParaRPr lang="en-GB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Non HTTP services. Instructs RHOCP to activate a load balancer in a cloud environment.Provides an externally </a:t>
            </a:r>
            <a:r>
              <a:rPr lang="en-GB"/>
              <a:t>accessible IP.</a:t>
            </a:r>
            <a:endParaRPr lang="en-GB"/>
          </a:p>
          <a:p>
            <a:pPr marL="457200" lvl="0" indent="-299720" algn="l" rtl="0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Secure Routes: Edge,Pass-through,Reencryption</a:t>
            </a:r>
            <a:endParaRPr lang="en-GB"/>
          </a:p>
          <a:p>
            <a:pPr marL="457200" lvl="0" indent="-2997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Path-based routes</a:t>
            </a:r>
            <a:endParaRPr lang="en-GB"/>
          </a:p>
          <a:p>
            <a:pPr marL="457200" lvl="0" indent="-2997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NetworkPolicy</a:t>
            </a:r>
            <a:endParaRPr lang="en-GB"/>
          </a:p>
          <a:p>
            <a:pPr marL="457200" lvl="0" indent="-2997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Enable traffic from Router Pods</a:t>
            </a:r>
            <a:endParaRPr lang="en-GB"/>
          </a:p>
          <a:p>
            <a:pPr marL="457200" lvl="0" indent="-299720" algn="l" rtl="0">
              <a:spcBef>
                <a:spcPts val="0"/>
              </a:spcBef>
              <a:spcAft>
                <a:spcPts val="0"/>
              </a:spcAft>
              <a:buSzPct val="158000"/>
              <a:buAutoNum type="arabicPeriod"/>
            </a:pPr>
            <a:r>
              <a:rPr lang="en-GB"/>
              <a:t>MetalLB Operator </a:t>
            </a:r>
            <a:r>
              <a:rPr lang="en-GB" sz="1140" u="sng">
                <a:solidFill>
                  <a:schemeClr val="hlink"/>
                </a:solidFill>
                <a:hlinkClick r:id="rId1"/>
              </a:rPr>
              <a:t>https://docs.google.com/presentation/d/16IvbiyJ5gDUv2C9sNSmnEpjUfNeYEQiBOnQkcR75gR4/edit?usp=sharing</a:t>
            </a:r>
            <a:endParaRPr sz="1140"/>
          </a:p>
          <a:p>
            <a:pPr marL="457200" lvl="0" indent="-299720" algn="l" rtl="0">
              <a:spcBef>
                <a:spcPts val="0"/>
              </a:spcBef>
              <a:spcAft>
                <a:spcPts val="0"/>
              </a:spcAft>
              <a:buSzPct val="164000"/>
              <a:buAutoNum type="arabicPeriod"/>
            </a:pPr>
            <a:r>
              <a:rPr lang="en-GB"/>
              <a:t>Multus</a:t>
            </a:r>
            <a:r>
              <a:rPr lang="en-GB" sz="1100"/>
              <a:t> h</a:t>
            </a:r>
            <a:r>
              <a:rPr lang="en-GB" sz="1100" u="sng">
                <a:solidFill>
                  <a:schemeClr val="accent5"/>
                </a:solidFill>
                <a:hlinkClick r:id="rId2"/>
              </a:rPr>
              <a:t>ttps://docs.google.com/presentation/d/14624JDH6-V8fNb6bqMzfp1EJ3xGaMmaV8_wOpwM70L4/edit?usp=sharing</a:t>
            </a:r>
            <a:endParaRPr sz="1100"/>
          </a:p>
          <a:p>
            <a:pPr marL="457200" lvl="0" indent="-299720" algn="l" rtl="0">
              <a:spcBef>
                <a:spcPts val="0"/>
              </a:spcBef>
              <a:spcAft>
                <a:spcPts val="0"/>
              </a:spcAft>
              <a:buSzPct val="164000"/>
              <a:buAutoNum type="arabicPeriod"/>
            </a:pPr>
            <a:r>
              <a:rPr lang="en-GB"/>
              <a:t>Kubernetes NMState Operator </a:t>
            </a:r>
            <a:r>
              <a:rPr lang="en-GB" sz="1100" u="sng">
                <a:solidFill>
                  <a:schemeClr val="hlink"/>
                </a:solidFill>
                <a:hlinkClick r:id="rId3"/>
              </a:rPr>
              <a:t>https://docs.google.com/presentation/d/1uJOSW-5Vv36Ng7wLLONVydGZCZ6MoFSuF8z6MjHQ7Yg/edit?usp=sharing</a:t>
            </a:r>
            <a:endParaRPr sz="1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Multus CNI</a:t>
            </a:r>
            <a:endParaRPr lang="en-GB"/>
          </a:p>
        </p:txBody>
      </p:sp>
      <p:sp>
        <p:nvSpPr>
          <p:cNvPr id="264" name="Google Shape;264;p50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RedHat recommends using the Cluster Network Operator (CNO) to centralize managing additional networks for pods in clusters where the OpenShift Virtualization operator</a:t>
            </a:r>
            <a:r>
              <a:rPr lang="en-GB">
                <a:solidFill>
                  <a:srgbClr val="FF0000"/>
                </a:solidFill>
              </a:rPr>
              <a:t> is not </a:t>
            </a:r>
            <a:r>
              <a:rPr lang="en-GB"/>
              <a:t>deployed. </a:t>
            </a:r>
            <a:endParaRPr lang="en-GB"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For VMs in OpenShift Virtualization, </a:t>
            </a:r>
            <a:r>
              <a:rPr lang="en-GB">
                <a:solidFill>
                  <a:srgbClr val="FF0000"/>
                </a:solidFill>
              </a:rPr>
              <a:t>you do not</a:t>
            </a:r>
            <a:r>
              <a:rPr lang="en-GB"/>
              <a:t> need to edit the CNO to create a network attachment definition.</a:t>
            </a:r>
            <a:endParaRPr lang="en-GB"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To attach additional network interfaces to a pod or a VM, you must create a </a:t>
            </a:r>
            <a:r>
              <a:rPr lang="en-GB">
                <a:solidFill>
                  <a:srgbClr val="00FF00"/>
                </a:solidFill>
              </a:rPr>
              <a:t>network attachment definition</a:t>
            </a:r>
            <a:r>
              <a:rPr lang="en-GB"/>
              <a:t> that defines the CNI plug-in configuration to use for the additional interface.</a:t>
            </a:r>
            <a:endParaRPr lang="en-GB"/>
          </a:p>
        </p:txBody>
      </p:sp>
      <p:sp>
        <p:nvSpPr>
          <p:cNvPr id="265" name="Google Shape;265;p50"/>
          <p:cNvSpPr txBox="1"/>
          <p:nvPr/>
        </p:nvSpPr>
        <p:spPr>
          <a:xfrm>
            <a:off x="2391550" y="445025"/>
            <a:ext cx="506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u="sng">
                <a:solidFill>
                  <a:schemeClr val="hlink"/>
                </a:solidFill>
                <a:hlinkClick r:id="rId1"/>
              </a:rPr>
              <a:t>https://docs.google.com/presentation/d/14624JDH6-V8fNb6bqMzfp1EJ3xGaMmaV8_wOpwM70L4/edit?usp=sharing</a:t>
            </a:r>
            <a:endParaRPr sz="1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1" name="Google Shape;271;p5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RHOCP provides the following CNI plug-ins for the Multus CNI plug-in to chain:</a:t>
            </a:r>
            <a:endParaRPr lang="en-GB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-GB"/>
              <a:t>Bridge</a:t>
            </a:r>
            <a:endParaRPr lang="en-GB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-GB"/>
              <a:t>Host-device</a:t>
            </a:r>
            <a:endParaRPr lang="en-GB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-GB"/>
              <a:t>Ipvlan</a:t>
            </a:r>
            <a:endParaRPr lang="en-GB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-GB"/>
              <a:t>Macvlan</a:t>
            </a:r>
            <a:endParaRPr lang="en-GB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-GB"/>
              <a:t>SR-IOV</a:t>
            </a:r>
            <a:endParaRPr lang="en-GB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Configuring Kubernetes Storage for Virtual Machines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7" name="Google Shape;277;p52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68000"/>
              <a:buChar char="❏"/>
            </a:pPr>
            <a:r>
              <a:rPr lang="en-GB" b="1"/>
              <a:t>CSI </a:t>
            </a:r>
            <a:r>
              <a:rPr lang="en-GB" sz="1070" b="1" u="sng">
                <a:solidFill>
                  <a:schemeClr val="hlink"/>
                </a:solidFill>
                <a:hlinkClick r:id="rId1"/>
              </a:rPr>
              <a:t>https://docs.google.com/presentation/d/10mqwsnZr8t5i7qpb_1VW-404CJwnbefEh-fzraBTiKk/edit?usp=sharing</a:t>
            </a:r>
            <a:endParaRPr sz="1070" b="1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 b="1"/>
              <a:t>Ephemeral storage</a:t>
            </a:r>
            <a:endParaRPr b="1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 b="1"/>
              <a:t>Persistent storage</a:t>
            </a:r>
            <a:endParaRPr b="1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 b="1"/>
              <a:t>PersistentVolume [</a:t>
            </a:r>
            <a:r>
              <a:rPr lang="en-GB" b="1"/>
              <a:t>Kubernetes</a:t>
            </a:r>
            <a:r>
              <a:rPr lang="en-GB" b="1"/>
              <a:t> Resource]</a:t>
            </a:r>
            <a:endParaRPr b="1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 b="1"/>
              <a:t>PersistentVolumeClaim </a:t>
            </a:r>
            <a:r>
              <a:rPr lang="en-GB" b="1"/>
              <a:t>[Kubernetes Resource]</a:t>
            </a:r>
            <a:endParaRPr b="1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 b="1"/>
              <a:t>Volume Provisioning: Static Vs Dynamic</a:t>
            </a:r>
            <a:endParaRPr b="1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 b="1"/>
              <a:t>Volume Modes: Filesystem,Block</a:t>
            </a:r>
            <a:endParaRPr b="1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 b="1"/>
              <a:t>Volume Access Modes: RWO,RWX(VM Live Migration),ROX</a:t>
            </a:r>
            <a:endParaRPr b="1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 b="1"/>
              <a:t>StorageClass [Kubernetes Resource]</a:t>
            </a:r>
            <a:endParaRPr b="1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 b="1"/>
              <a:t>Storageclass Annotation</a:t>
            </a:r>
            <a:endParaRPr b="1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 b="1"/>
              <a:t>StorageProfile</a:t>
            </a:r>
            <a:endParaRPr b="1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 b="1"/>
              <a:t>Datavolume</a:t>
            </a:r>
            <a:endParaRPr b="1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 b="1"/>
              <a:t>Local Node Disk Space - No Live Migration support</a:t>
            </a:r>
            <a:endParaRPr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CONTAINER STORAGE INTERFACE </a:t>
            </a:r>
            <a:endParaRPr lang="en-GB"/>
          </a:p>
        </p:txBody>
      </p:sp>
      <p:sp>
        <p:nvSpPr>
          <p:cNvPr id="283" name="Google Shape;283;p5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https://docs.google.com/presentation/d/10mqwsnZr8t5i7qpb_1VW-404CJwnbefEh-fzraBTiKk/edit?usp=sharing</a:t>
            </a:r>
            <a:endParaRPr lang="en-GB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DataVolume</a:t>
            </a:r>
            <a:endParaRPr lang="en-GB"/>
          </a:p>
        </p:txBody>
      </p:sp>
      <p:sp>
        <p:nvSpPr>
          <p:cNvPr id="289" name="Google Shape;289;p5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A data volume resource describes a VM disk. 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Provided by the Containerized Data Importer (CDI) project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Groups the PVC definition and the details of the disk image to inject into the PV. 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Data volumes are namespaced resources.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  <p:pic>
        <p:nvPicPr>
          <p:cNvPr id="290" name="Google Shape;290;p5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889150" y="3508488"/>
            <a:ext cx="5181600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StorageProfile</a:t>
            </a:r>
            <a:endParaRPr lang="en-GB"/>
          </a:p>
        </p:txBody>
      </p:sp>
      <p:sp>
        <p:nvSpPr>
          <p:cNvPr id="296" name="Google Shape;296;p55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When you create a data volume using the PVC API, the Containerized Data Importer (CDI) creates the data volume based on what you specify for the following fields:</a:t>
            </a:r>
            <a:endParaRPr lang="en-GB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-GB"/>
              <a:t>accessModes (ReadWriteOnce, ReadWriteMany, or ReadOnlyMany)</a:t>
            </a:r>
            <a:endParaRPr lang="en-GB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-GB"/>
              <a:t>volumeMode (Filesystem or Block)</a:t>
            </a:r>
            <a:endParaRPr lang="en-GB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-GB"/>
              <a:t>capacity of storage (5Gi, for example)</a:t>
            </a:r>
            <a:endParaRPr lang="en-GB"/>
          </a:p>
          <a:p>
            <a:pPr marL="4572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-GB"/>
              <a:t>A storage profile defines the PVC </a:t>
            </a:r>
            <a:r>
              <a:rPr lang="en-GB">
                <a:solidFill>
                  <a:srgbClr val="00FF00"/>
                </a:solidFill>
              </a:rPr>
              <a:t>default values</a:t>
            </a:r>
            <a:r>
              <a:rPr lang="en-GB"/>
              <a:t> that are best suited for VM disks</a:t>
            </a:r>
            <a:endParaRPr lang="en-GB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-GB"/>
              <a:t>Storage profiles are cluster-wide resources.</a:t>
            </a:r>
            <a:endParaRPr lang="en-GB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-GB"/>
              <a:t>Storage profiles have the same name as their associated storage classes.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2" name="Google Shape;302;p56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  <p:pic>
        <p:nvPicPr>
          <p:cNvPr id="303" name="Google Shape;303;p5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11690" y="369300"/>
            <a:ext cx="8712209" cy="447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9" name="Google Shape;309;p57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5" name="Google Shape;315;p58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Preallocating Disk Space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Resize a Virtual Machine Disk-Only expansion</a:t>
            </a:r>
            <a:endParaRPr lang="en-GB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-GB"/>
              <a:t>allowVolumeExpansion in storageclass</a:t>
            </a:r>
            <a:endParaRPr lang="en-GB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-GB"/>
              <a:t>No stopping required.</a:t>
            </a:r>
            <a:endParaRPr lang="en-GB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-GB"/>
              <a:t>VM detects only after restart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  <p:pic>
        <p:nvPicPr>
          <p:cNvPr id="316" name="Google Shape;316;p5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780820" y="1084945"/>
            <a:ext cx="2953975" cy="135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 a Virtual Machines to External Storage</a:t>
            </a:r>
            <a:endParaRPr lang="en-GB"/>
          </a:p>
        </p:txBody>
      </p:sp>
      <p:sp>
        <p:nvSpPr>
          <p:cNvPr id="322" name="Google Shape;322;p59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Connect the storage from inside the VM.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Connect the storage through a Kubernetes PV and then attach the volume as a VM disk.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Attach PV to VM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Inject DIskimage to VM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Attach the external Volume as Disk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 Machine Templates</a:t>
            </a:r>
            <a:endParaRPr lang="en-GB"/>
          </a:p>
        </p:txBody>
      </p:sp>
      <p:sp>
        <p:nvSpPr>
          <p:cNvPr id="328" name="Google Shape;328;p60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D</a:t>
            </a:r>
            <a:r>
              <a:rPr lang="en-GB"/>
              <a:t>efault parameters that you can customize according to your needs. </a:t>
            </a:r>
            <a:endParaRPr lang="en-GB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RHOCP provides templates for several resource types,including network interfaces, PVs, and VMs.</a:t>
            </a:r>
            <a:endParaRPr lang="en-GB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RedHat OpenShift Virtualization provides a catalog of preconfigured templates to create a virtual machine and its resources. </a:t>
            </a:r>
            <a:endParaRPr lang="en-GB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Templates are available for different versions of Red Hat Enterprise Linux, CentOS, Fedora, Microsoft Windows 10 and 11, and Microsoft Windows Servers.</a:t>
            </a:r>
            <a:endParaRPr lang="en-GB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RedHat provides virtual machine templates that are preconfigured with the operating system image, default settings for the operating system, workload type, CPU, and memory resources.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Exporting and Importing Virtual Machines</a:t>
            </a:r>
            <a:endParaRPr lang="en-GB"/>
          </a:p>
        </p:txBody>
      </p:sp>
      <p:sp>
        <p:nvSpPr>
          <p:cNvPr id="334" name="Google Shape;334;p6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OpenShift Virtualization can export VMs and their associated disks to import them into another OpenShift Virtualization cluster.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VirtualMachineExport(CR)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MTV</a:t>
            </a:r>
            <a:endParaRPr lang="en-GB"/>
          </a:p>
        </p:txBody>
      </p:sp>
      <p:sp>
        <p:nvSpPr>
          <p:cNvPr id="340" name="Google Shape;340;p62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1"/>
              </a:rPr>
              <a:t>https://docs.google.com/presentation/d/1lqmdJJA7TKTvv2LpTj4rz4W3auGAL2mnAwxN647hWU0/edit?usp=sharing</a:t>
            </a:r>
            <a:endParaRPr lang="en-GB" u="sng">
              <a:solidFill>
                <a:schemeClr val="hlink"/>
              </a:solidFill>
              <a:hlinkClick r:id="rId1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Manage Virtual Machine Snapshots</a:t>
            </a:r>
            <a:endParaRPr lang="en-GB"/>
          </a:p>
        </p:txBody>
      </p:sp>
      <p:sp>
        <p:nvSpPr>
          <p:cNvPr id="346" name="Google Shape;346;p6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A snapshot is a view of a Virtual Machine (VM) that includes the operating system and applications on all the attached disks at a given point in time.</a:t>
            </a:r>
            <a:endParaRPr lang="en-GB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With Red Hat OpenShift Virtualization, you can take live snapshots of running VMs, as well as snapshots of stopped VMs.</a:t>
            </a:r>
            <a:endParaRPr lang="en-GB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OpenShift Virtualization communicates with the Quick Emulator (QEMU) guest agent that is running inside the VM to quiesce the file systems before taking the snapshot .Ensure file consistent state.</a:t>
            </a:r>
            <a:endParaRPr lang="en-GB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Will work without qemu agent but file systems might not be consistent.</a:t>
            </a:r>
            <a:endParaRPr lang="en-GB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Disk snapshots rely on the back-end storage</a:t>
            </a:r>
            <a:endParaRPr lang="en-GB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Warning message for backend storage which does not support snapshot, no data restoration.</a:t>
            </a:r>
            <a:endParaRPr lang="en-GB"/>
          </a:p>
          <a:p>
            <a:pPr marL="457200" lvl="0" indent="-334010" algn="l" rtl="0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-GB"/>
              <a:t>Records the VM configuration, such as the number of CPUs or the amount of memory</a:t>
            </a:r>
            <a:endParaRPr lang="en-GB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2" name="Google Shape;352;p6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VirtualMachineSnapshot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VirtualMachineRestore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Can also duplicate individual VM disks from their snapshots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/>
              <a:t>VM snapshots rely on Kubernetes volume snapshots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Cloning Virtual Machines</a:t>
            </a:r>
            <a:endParaRPr lang="en-GB"/>
          </a:p>
        </p:txBody>
      </p:sp>
      <p:sp>
        <p:nvSpPr>
          <p:cNvPr id="358" name="Google Shape;358;p65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copy of a VM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 clone likely has machine-specific data and configuration settings from the original VM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Sealing the VM is a process where you clear the machine-specific information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For Red Hat Enterprise Linux systems, use the virt-sysprep command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For Microsoft Windows systems, use the sysprep.exe command to initiate a System Out-of- Box-Experience (OOBE)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Red Hat OpenShift Virtualization provides the virtctl guestfs command to start a container that includes the virt-sysprep tool.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6"/>
          <p:cNvSpPr/>
          <p:nvPr/>
        </p:nvSpPr>
        <p:spPr>
          <a:xfrm>
            <a:off x="397400" y="425550"/>
            <a:ext cx="1855200" cy="1002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4" name="Google Shape;364;p66"/>
          <p:cNvSpPr/>
          <p:nvPr/>
        </p:nvSpPr>
        <p:spPr>
          <a:xfrm>
            <a:off x="3750200" y="425550"/>
            <a:ext cx="1855200" cy="1002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5" name="Google Shape;365;p66"/>
          <p:cNvSpPr/>
          <p:nvPr/>
        </p:nvSpPr>
        <p:spPr>
          <a:xfrm>
            <a:off x="6632000" y="473550"/>
            <a:ext cx="1945200" cy="954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6" name="Google Shape;366;p66"/>
          <p:cNvSpPr/>
          <p:nvPr/>
        </p:nvSpPr>
        <p:spPr>
          <a:xfrm>
            <a:off x="6874400" y="2178150"/>
            <a:ext cx="1855200" cy="1002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7" name="Google Shape;367;p66"/>
          <p:cNvSpPr/>
          <p:nvPr/>
        </p:nvSpPr>
        <p:spPr>
          <a:xfrm>
            <a:off x="4131200" y="2178150"/>
            <a:ext cx="1855200" cy="1002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8" name="Google Shape;368;p66"/>
          <p:cNvSpPr/>
          <p:nvPr/>
        </p:nvSpPr>
        <p:spPr>
          <a:xfrm>
            <a:off x="6874400" y="4012800"/>
            <a:ext cx="1855200" cy="1002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9" name="Google Shape;369;p66"/>
          <p:cNvSpPr/>
          <p:nvPr/>
        </p:nvSpPr>
        <p:spPr>
          <a:xfrm>
            <a:off x="584975" y="3362175"/>
            <a:ext cx="1424400" cy="1239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0" name="Google Shape;370;p66"/>
          <p:cNvSpPr txBox="1"/>
          <p:nvPr/>
        </p:nvSpPr>
        <p:spPr>
          <a:xfrm>
            <a:off x="661175" y="3511675"/>
            <a:ext cx="1945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      USER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oc create -f vm.yml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       STEP-1</a:t>
            </a:r>
            <a:endParaRPr sz="1000" b="1">
              <a:solidFill>
                <a:schemeClr val="lt1"/>
              </a:solidFill>
            </a:endParaRPr>
          </a:p>
        </p:txBody>
      </p:sp>
      <p:sp>
        <p:nvSpPr>
          <p:cNvPr id="371" name="Google Shape;371;p66"/>
          <p:cNvSpPr/>
          <p:nvPr/>
        </p:nvSpPr>
        <p:spPr>
          <a:xfrm>
            <a:off x="1144750" y="1427850"/>
            <a:ext cx="263700" cy="19344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2" name="Google Shape;372;p66"/>
          <p:cNvSpPr txBox="1"/>
          <p:nvPr/>
        </p:nvSpPr>
        <p:spPr>
          <a:xfrm>
            <a:off x="341725" y="405050"/>
            <a:ext cx="2112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      MASTER-API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</a:rPr>
              <a:t>Validates and write in etcd</a:t>
            </a:r>
            <a:endParaRPr sz="10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              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   STEP-2</a:t>
            </a:r>
            <a:endParaRPr sz="1000" b="1">
              <a:solidFill>
                <a:schemeClr val="lt1"/>
              </a:solidFill>
            </a:endParaRPr>
          </a:p>
        </p:txBody>
      </p:sp>
      <p:sp>
        <p:nvSpPr>
          <p:cNvPr id="373" name="Google Shape;373;p66"/>
          <p:cNvSpPr txBox="1"/>
          <p:nvPr/>
        </p:nvSpPr>
        <p:spPr>
          <a:xfrm>
            <a:off x="3618325" y="481250"/>
            <a:ext cx="21123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VIRT-API-SERVER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</a:rPr>
              <a:t>Entry point for Virtualization</a:t>
            </a:r>
            <a:endParaRPr sz="10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</a:rPr>
              <a:t>related flow</a:t>
            </a:r>
            <a:endParaRPr sz="10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STEP-3</a:t>
            </a:r>
            <a:endParaRPr sz="1000" b="1">
              <a:solidFill>
                <a:schemeClr val="lt1"/>
              </a:solidFill>
            </a:endParaRPr>
          </a:p>
        </p:txBody>
      </p:sp>
      <p:sp>
        <p:nvSpPr>
          <p:cNvPr id="374" name="Google Shape;374;p66"/>
          <p:cNvSpPr/>
          <p:nvPr/>
        </p:nvSpPr>
        <p:spPr>
          <a:xfrm>
            <a:off x="2261375" y="715700"/>
            <a:ext cx="1488900" cy="29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5" name="Google Shape;375;p66"/>
          <p:cNvSpPr txBox="1"/>
          <p:nvPr/>
        </p:nvSpPr>
        <p:spPr>
          <a:xfrm>
            <a:off x="6617300" y="449550"/>
            <a:ext cx="21123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VIRT-CONTROLLER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</a:rPr>
              <a:t>C</a:t>
            </a:r>
            <a:r>
              <a:rPr lang="en-GB" sz="1000">
                <a:solidFill>
                  <a:schemeClr val="lt1"/>
                </a:solidFill>
              </a:rPr>
              <a:t>reate and manage the </a:t>
            </a:r>
            <a:endParaRPr sz="10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</a:rPr>
              <a:t>life-cycle of the pods</a:t>
            </a:r>
            <a:endParaRPr sz="10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</a:rPr>
              <a:t> associated to the VMI objects</a:t>
            </a:r>
            <a:endParaRPr sz="10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STEP-4</a:t>
            </a:r>
            <a:endParaRPr sz="1000" b="1">
              <a:solidFill>
                <a:schemeClr val="lt1"/>
              </a:solidFill>
            </a:endParaRPr>
          </a:p>
        </p:txBody>
      </p:sp>
      <p:sp>
        <p:nvSpPr>
          <p:cNvPr id="376" name="Google Shape;376;p66"/>
          <p:cNvSpPr/>
          <p:nvPr/>
        </p:nvSpPr>
        <p:spPr>
          <a:xfrm>
            <a:off x="5605400" y="758250"/>
            <a:ext cx="1026600" cy="29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7" name="Google Shape;377;p66"/>
          <p:cNvSpPr/>
          <p:nvPr/>
        </p:nvSpPr>
        <p:spPr>
          <a:xfrm>
            <a:off x="7525050" y="1427875"/>
            <a:ext cx="263700" cy="719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8" name="Google Shape;378;p66"/>
          <p:cNvSpPr txBox="1"/>
          <p:nvPr/>
        </p:nvSpPr>
        <p:spPr>
          <a:xfrm>
            <a:off x="7941150" y="1315350"/>
            <a:ext cx="11166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FFFFFF"/>
                </a:solidFill>
              </a:rPr>
              <a:t>  Observes the pod and Update nodeName in VMI [STEP-6]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379" name="Google Shape;379;p66"/>
          <p:cNvSpPr txBox="1"/>
          <p:nvPr/>
        </p:nvSpPr>
        <p:spPr>
          <a:xfrm>
            <a:off x="7173350" y="2178150"/>
            <a:ext cx="15561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VIRT-LAUNCHER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        [POD]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LIBVIRT [Process]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QEMU/KVM [Process] 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     STEP-5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  VirtualMachine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</p:txBody>
      </p:sp>
      <p:sp>
        <p:nvSpPr>
          <p:cNvPr id="380" name="Google Shape;380;p66"/>
          <p:cNvSpPr txBox="1"/>
          <p:nvPr/>
        </p:nvSpPr>
        <p:spPr>
          <a:xfrm>
            <a:off x="4430150" y="2178150"/>
            <a:ext cx="1350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VIRT-HANDLER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    </a:t>
            </a:r>
            <a:endParaRPr sz="1000" b="1">
              <a:solidFill>
                <a:schemeClr val="lt1"/>
              </a:solidFill>
            </a:endParaRPr>
          </a:p>
        </p:txBody>
      </p:sp>
      <p:sp>
        <p:nvSpPr>
          <p:cNvPr id="381" name="Google Shape;381;p66"/>
          <p:cNvSpPr/>
          <p:nvPr/>
        </p:nvSpPr>
        <p:spPr>
          <a:xfrm>
            <a:off x="6015700" y="2544500"/>
            <a:ext cx="858600" cy="2109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2" name="Google Shape;382;p66"/>
          <p:cNvSpPr txBox="1"/>
          <p:nvPr/>
        </p:nvSpPr>
        <p:spPr>
          <a:xfrm>
            <a:off x="5848600" y="1513250"/>
            <a:ext cx="1116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</a:rPr>
              <a:t>virt-controller</a:t>
            </a:r>
            <a:r>
              <a:rPr lang="en-GB" sz="900" b="1">
                <a:solidFill>
                  <a:srgbClr val="FFFFFF"/>
                </a:solidFill>
              </a:rPr>
              <a:t> handover the 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</a:rPr>
              <a:t>Responsibilities to virt-handler via virt-api 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</a:rPr>
              <a:t>STEP-7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383" name="Google Shape;383;p66"/>
          <p:cNvSpPr/>
          <p:nvPr/>
        </p:nvSpPr>
        <p:spPr>
          <a:xfrm>
            <a:off x="7677450" y="3180450"/>
            <a:ext cx="263700" cy="8163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4" name="Google Shape;384;p66"/>
          <p:cNvSpPr/>
          <p:nvPr/>
        </p:nvSpPr>
        <p:spPr>
          <a:xfrm>
            <a:off x="4781850" y="1427875"/>
            <a:ext cx="263700" cy="800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7"/>
          <p:cNvSpPr/>
          <p:nvPr/>
        </p:nvSpPr>
        <p:spPr>
          <a:xfrm>
            <a:off x="397400" y="425550"/>
            <a:ext cx="1855200" cy="1002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0" name="Google Shape;390;p67"/>
          <p:cNvSpPr/>
          <p:nvPr/>
        </p:nvSpPr>
        <p:spPr>
          <a:xfrm>
            <a:off x="3750200" y="425550"/>
            <a:ext cx="1855200" cy="1002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1" name="Google Shape;391;p67"/>
          <p:cNvSpPr/>
          <p:nvPr/>
        </p:nvSpPr>
        <p:spPr>
          <a:xfrm>
            <a:off x="6632000" y="473550"/>
            <a:ext cx="1945200" cy="954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2" name="Google Shape;392;p67"/>
          <p:cNvSpPr/>
          <p:nvPr/>
        </p:nvSpPr>
        <p:spPr>
          <a:xfrm>
            <a:off x="6874400" y="2178150"/>
            <a:ext cx="1855200" cy="1002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3" name="Google Shape;393;p67"/>
          <p:cNvSpPr/>
          <p:nvPr/>
        </p:nvSpPr>
        <p:spPr>
          <a:xfrm>
            <a:off x="4131200" y="2178150"/>
            <a:ext cx="1855200" cy="1002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4" name="Google Shape;394;p67"/>
          <p:cNvSpPr/>
          <p:nvPr/>
        </p:nvSpPr>
        <p:spPr>
          <a:xfrm>
            <a:off x="6874400" y="4012800"/>
            <a:ext cx="1855200" cy="1002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5" name="Google Shape;395;p67"/>
          <p:cNvSpPr/>
          <p:nvPr/>
        </p:nvSpPr>
        <p:spPr>
          <a:xfrm>
            <a:off x="584975" y="3362175"/>
            <a:ext cx="1424400" cy="1239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6" name="Google Shape;396;p67"/>
          <p:cNvSpPr txBox="1"/>
          <p:nvPr/>
        </p:nvSpPr>
        <p:spPr>
          <a:xfrm>
            <a:off x="661175" y="3511675"/>
            <a:ext cx="1945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      USER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oc create -f vm.yml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       STEP-1</a:t>
            </a:r>
            <a:endParaRPr sz="1000" b="1">
              <a:solidFill>
                <a:schemeClr val="lt1"/>
              </a:solidFill>
            </a:endParaRPr>
          </a:p>
        </p:txBody>
      </p:sp>
      <p:sp>
        <p:nvSpPr>
          <p:cNvPr id="397" name="Google Shape;397;p67"/>
          <p:cNvSpPr/>
          <p:nvPr/>
        </p:nvSpPr>
        <p:spPr>
          <a:xfrm>
            <a:off x="1144750" y="1427850"/>
            <a:ext cx="263700" cy="19344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8" name="Google Shape;398;p67"/>
          <p:cNvSpPr txBox="1"/>
          <p:nvPr/>
        </p:nvSpPr>
        <p:spPr>
          <a:xfrm>
            <a:off x="341725" y="405050"/>
            <a:ext cx="2112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      MASTER-API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</a:rPr>
              <a:t>Validates and write in etcd</a:t>
            </a:r>
            <a:endParaRPr sz="10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              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   STEP-2</a:t>
            </a:r>
            <a:endParaRPr sz="1000" b="1">
              <a:solidFill>
                <a:schemeClr val="lt1"/>
              </a:solidFill>
            </a:endParaRPr>
          </a:p>
        </p:txBody>
      </p:sp>
      <p:sp>
        <p:nvSpPr>
          <p:cNvPr id="399" name="Google Shape;399;p67"/>
          <p:cNvSpPr txBox="1"/>
          <p:nvPr/>
        </p:nvSpPr>
        <p:spPr>
          <a:xfrm>
            <a:off x="3618325" y="481250"/>
            <a:ext cx="21123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VIRT-API-SERVER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</a:rPr>
              <a:t>Entry point for Virtualization</a:t>
            </a:r>
            <a:endParaRPr sz="10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</a:rPr>
              <a:t>related flow</a:t>
            </a:r>
            <a:endParaRPr sz="10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STEP-3</a:t>
            </a:r>
            <a:endParaRPr sz="1000" b="1">
              <a:solidFill>
                <a:schemeClr val="lt1"/>
              </a:solidFill>
            </a:endParaRPr>
          </a:p>
        </p:txBody>
      </p:sp>
      <p:sp>
        <p:nvSpPr>
          <p:cNvPr id="400" name="Google Shape;400;p67"/>
          <p:cNvSpPr/>
          <p:nvPr/>
        </p:nvSpPr>
        <p:spPr>
          <a:xfrm>
            <a:off x="2261375" y="715700"/>
            <a:ext cx="1488900" cy="29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1" name="Google Shape;401;p67"/>
          <p:cNvSpPr txBox="1"/>
          <p:nvPr/>
        </p:nvSpPr>
        <p:spPr>
          <a:xfrm>
            <a:off x="6617300" y="449550"/>
            <a:ext cx="21123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VIRT-CONTROLLER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</a:rPr>
              <a:t>Create and manage the </a:t>
            </a:r>
            <a:endParaRPr sz="10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</a:rPr>
              <a:t>life-cycle of the pods</a:t>
            </a:r>
            <a:endParaRPr sz="10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</a:rPr>
              <a:t> associated to the VMI objects</a:t>
            </a:r>
            <a:endParaRPr sz="10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STEP-4</a:t>
            </a:r>
            <a:endParaRPr sz="1000" b="1">
              <a:solidFill>
                <a:schemeClr val="lt1"/>
              </a:solidFill>
            </a:endParaRPr>
          </a:p>
        </p:txBody>
      </p:sp>
      <p:sp>
        <p:nvSpPr>
          <p:cNvPr id="402" name="Google Shape;402;p67"/>
          <p:cNvSpPr/>
          <p:nvPr/>
        </p:nvSpPr>
        <p:spPr>
          <a:xfrm>
            <a:off x="5605400" y="758250"/>
            <a:ext cx="1026600" cy="29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3" name="Google Shape;403;p67"/>
          <p:cNvSpPr/>
          <p:nvPr/>
        </p:nvSpPr>
        <p:spPr>
          <a:xfrm>
            <a:off x="7525050" y="1427875"/>
            <a:ext cx="263700" cy="719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4" name="Google Shape;404;p67"/>
          <p:cNvSpPr txBox="1"/>
          <p:nvPr/>
        </p:nvSpPr>
        <p:spPr>
          <a:xfrm>
            <a:off x="7941150" y="1315350"/>
            <a:ext cx="11166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FFFFFF"/>
                </a:solidFill>
              </a:rPr>
              <a:t>  Observes the pod and Update nodeName in VMI [STEP-6]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405" name="Google Shape;405;p67"/>
          <p:cNvSpPr txBox="1"/>
          <p:nvPr/>
        </p:nvSpPr>
        <p:spPr>
          <a:xfrm>
            <a:off x="7173350" y="2178150"/>
            <a:ext cx="15561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VIRT-LAUNCHER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        [POD]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LIBVIRT [Process]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QEMU/KVM [Process] 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     STEP-5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  VirtualMachine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</p:txBody>
      </p:sp>
      <p:sp>
        <p:nvSpPr>
          <p:cNvPr id="406" name="Google Shape;406;p67"/>
          <p:cNvSpPr txBox="1"/>
          <p:nvPr/>
        </p:nvSpPr>
        <p:spPr>
          <a:xfrm>
            <a:off x="4430150" y="2178150"/>
            <a:ext cx="1350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VIRT-HANDLER</a:t>
            </a: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lt1"/>
                </a:solidFill>
              </a:rPr>
              <a:t>      </a:t>
            </a:r>
            <a:endParaRPr sz="1000" b="1">
              <a:solidFill>
                <a:schemeClr val="lt1"/>
              </a:solidFill>
            </a:endParaRPr>
          </a:p>
        </p:txBody>
      </p:sp>
      <p:sp>
        <p:nvSpPr>
          <p:cNvPr id="407" name="Google Shape;407;p67"/>
          <p:cNvSpPr/>
          <p:nvPr/>
        </p:nvSpPr>
        <p:spPr>
          <a:xfrm>
            <a:off x="6015700" y="2544500"/>
            <a:ext cx="858600" cy="2109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8" name="Google Shape;408;p67"/>
          <p:cNvSpPr/>
          <p:nvPr/>
        </p:nvSpPr>
        <p:spPr>
          <a:xfrm>
            <a:off x="7677450" y="3180450"/>
            <a:ext cx="263700" cy="8163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9" name="Google Shape;409;p67"/>
          <p:cNvSpPr/>
          <p:nvPr/>
        </p:nvSpPr>
        <p:spPr>
          <a:xfrm>
            <a:off x="4781850" y="1427875"/>
            <a:ext cx="263700" cy="800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10" name="Google Shape;410;p67"/>
          <p:cNvCxnSpPr/>
          <p:nvPr/>
        </p:nvCxnSpPr>
        <p:spPr>
          <a:xfrm>
            <a:off x="6200325" y="2219175"/>
            <a:ext cx="387000" cy="800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1" name="Google Shape;411;p67"/>
          <p:cNvCxnSpPr/>
          <p:nvPr/>
        </p:nvCxnSpPr>
        <p:spPr>
          <a:xfrm flipH="1">
            <a:off x="6226800" y="2280725"/>
            <a:ext cx="351600" cy="659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2" name="Google Shape;412;p67"/>
          <p:cNvSpPr txBox="1"/>
          <p:nvPr/>
        </p:nvSpPr>
        <p:spPr>
          <a:xfrm>
            <a:off x="3254900" y="3986425"/>
            <a:ext cx="506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2"/>
                </a:solidFill>
              </a:rPr>
              <a:t>STAND ALONE VM</a:t>
            </a:r>
            <a:endParaRPr sz="1800" b="1">
              <a:solidFill>
                <a:schemeClr val="lt2"/>
              </a:solidFill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12725</Words>
  <Application>WPS 演示</Application>
  <PresentationFormat/>
  <Paragraphs>385</Paragraphs>
  <Slides>55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2" baseType="lpstr">
      <vt:lpstr>Arial</vt:lpstr>
      <vt:lpstr>宋体</vt:lpstr>
      <vt:lpstr>Wingdings</vt:lpstr>
      <vt:lpstr>Arial</vt:lpstr>
      <vt:lpstr>微软雅黑</vt:lpstr>
      <vt:lpstr>Arial Unicode MS</vt:lpstr>
      <vt:lpstr>Simple Dark</vt:lpstr>
      <vt:lpstr>Red Hat OpenShift Virtualization</vt:lpstr>
      <vt:lpstr>PowerPoint 演示文稿</vt:lpstr>
      <vt:lpstr>Red Hat OpenShift Virtualization</vt:lpstr>
      <vt:lpstr>What you can do with OpenShift Virtualization</vt:lpstr>
      <vt:lpstr>PowerPoint 演示文稿</vt:lpstr>
      <vt:lpstr>PowerPoint 演示文稿</vt:lpstr>
      <vt:lpstr>PowerPoint 演示文稿</vt:lpstr>
      <vt:lpstr>Virtualization Components</vt:lpstr>
      <vt:lpstr>virt-api</vt:lpstr>
      <vt:lpstr>virt-controller</vt:lpstr>
      <vt:lpstr>virt-handler</vt:lpstr>
      <vt:lpstr>virt-launcher</vt:lpstr>
      <vt:lpstr>libvirtd</vt:lpstr>
      <vt:lpstr>OpenShift Virtualization Architecture</vt:lpstr>
      <vt:lpstr>PowerPoint 演示文稿</vt:lpstr>
      <vt:lpstr>PowerPoint 演示文稿</vt:lpstr>
      <vt:lpstr>HyperConverged Operator (HCO)</vt:lpstr>
      <vt:lpstr>PowerPoint 演示文稿</vt:lpstr>
      <vt:lpstr>PowerPoint 演示文稿</vt:lpstr>
      <vt:lpstr>Containerized Data Importer (CDI) Operator</vt:lpstr>
      <vt:lpstr>PowerPoint 演示文稿</vt:lpstr>
      <vt:lpstr>PowerPoint 演示文稿</vt:lpstr>
      <vt:lpstr>Cluster Network Addons Operator</vt:lpstr>
      <vt:lpstr>PowerPoint 演示文稿</vt:lpstr>
      <vt:lpstr>PowerPoint 演示文稿</vt:lpstr>
      <vt:lpstr>Hostpath Provisioner (HPP) Operator</vt:lpstr>
      <vt:lpstr>PowerPoint 演示文稿</vt:lpstr>
      <vt:lpstr>PowerPoint 演示文稿</vt:lpstr>
      <vt:lpstr>Scheduling, Scale, and Performance (SSP) Operator</vt:lpstr>
      <vt:lpstr>PowerPoint 演示文稿</vt:lpstr>
      <vt:lpstr>PowerPoint 演示文稿</vt:lpstr>
      <vt:lpstr>OpenShift Virtualization Operator</vt:lpstr>
      <vt:lpstr>PowerPoint 演示文稿</vt:lpstr>
      <vt:lpstr>PowerPoint 演示文稿</vt:lpstr>
      <vt:lpstr>Chapter-2</vt:lpstr>
      <vt:lpstr>Chapter-3</vt:lpstr>
      <vt:lpstr>Expose application</vt:lpstr>
      <vt:lpstr>Multus CNI</vt:lpstr>
      <vt:lpstr>PowerPoint 演示文稿</vt:lpstr>
      <vt:lpstr>Configuring Kubernetes Storage for Virtual Machines</vt:lpstr>
      <vt:lpstr>CONTAINER STORAGE INTERFACE </vt:lpstr>
      <vt:lpstr>DataVolume</vt:lpstr>
      <vt:lpstr>StorageProfile</vt:lpstr>
      <vt:lpstr>PowerPoint 演示文稿</vt:lpstr>
      <vt:lpstr>PowerPoint 演示文稿</vt:lpstr>
      <vt:lpstr>PowerPoint 演示文稿</vt:lpstr>
      <vt:lpstr>Connect a Virtual Machines to External Storage</vt:lpstr>
      <vt:lpstr>Virtual Machine Templates</vt:lpstr>
      <vt:lpstr>Exporting and Importing Virtual Machines</vt:lpstr>
      <vt:lpstr>MTV</vt:lpstr>
      <vt:lpstr>Manage Virtual Machine Snapshots</vt:lpstr>
      <vt:lpstr>PowerPoint 演示文稿</vt:lpstr>
      <vt:lpstr>Cloning Virtual Machines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Hat OpenShift Virtualization</dc:title>
  <dc:creator/>
  <cp:lastModifiedBy>Alberthua</cp:lastModifiedBy>
  <cp:revision>2</cp:revision>
  <dcterms:created xsi:type="dcterms:W3CDTF">2026-10-21T07:06:43Z</dcterms:created>
  <dcterms:modified xsi:type="dcterms:W3CDTF">2026-10-21T07:08:27Z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C9C694CFC0814A3F86B9243C59A422F6_12</vt:lpwstr>
  </property>
  <property fmtid="{D5CDD505-2E9C-101B-9397-08002B2CF9AE}" pid="3" name="KSOProductBuildVer">
    <vt:lpwstr>2052-12.1.0.29161</vt:lpwstr>
  </property>
</Properties>
</file>