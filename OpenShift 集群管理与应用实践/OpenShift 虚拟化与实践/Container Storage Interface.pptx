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ea45e828a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ea45e828a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ea45e828a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ea45e828a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ea45e828a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ea45e828a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ea45e828a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ea45e828a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ea45e828a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ea45e828a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ea45e828a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ea45e828a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a45e828a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ea45e828a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ea45e828a2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ea45e828a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ea45e828a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ea45e828a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ea45e828a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ea45e828a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ea45e828a2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ea45e828a2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ea45e828a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ea45e828a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ea45e828a2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ea45e828a2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ea5cfb6e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ea5cfb6e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ea5cfb6ea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ea5cfb6ea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a45e828a2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a45e828a2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medium.com/google-cloud/understanding-the-container-storage-interface-csi-ddbeb966a3b" TargetMode="External"/><Relationship Id="rId4" Type="http://schemas.openxmlformats.org/officeDocument/2006/relationships/hyperlink" Target="https://docs.redhat.com/en/documentation/openshift_container_platform/4.14/html/storage/using-container-storage-interface-csi#persistent-storage-csi-architecture_persistent-storage-cs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CONTAINER STORAGE INTERFACE</a:t>
            </a:r>
            <a:endParaRPr/>
          </a:p>
        </p:txBody>
      </p:sp>
      <p:sp>
        <p:nvSpPr>
          <p:cNvPr id="55" name="Google Shape;55;p13"/>
          <p:cNvSpPr txBox="1"/>
          <p:nvPr>
            <p:ph idx="1" type="subTitle"/>
          </p:nvPr>
        </p:nvSpPr>
        <p:spPr>
          <a:xfrm>
            <a:off x="157700" y="4412225"/>
            <a:ext cx="5754300" cy="379200"/>
          </a:xfrm>
          <a:prstGeom prst="rect">
            <a:avLst/>
          </a:prstGeom>
        </p:spPr>
        <p:txBody>
          <a:bodyPr anchorCtr="0" anchor="t" bIns="91425" lIns="91425" spcFirstLastPara="1" rIns="91425" wrap="square" tIns="91425">
            <a:normAutofit fontScale="62500"/>
          </a:bodyPr>
          <a:lstStyle/>
          <a:p>
            <a:pPr indent="0" lvl="0" marL="0" rtl="0" algn="ctr">
              <a:lnSpc>
                <a:spcPct val="80000"/>
              </a:lnSpc>
              <a:spcBef>
                <a:spcPts val="0"/>
              </a:spcBef>
              <a:spcAft>
                <a:spcPts val="0"/>
              </a:spcAft>
              <a:buSzPct val="53658"/>
              <a:buNone/>
            </a:pPr>
            <a:r>
              <a:rPr lang="en" sz="820"/>
              <a:t>References:</a:t>
            </a:r>
            <a:endParaRPr sz="820"/>
          </a:p>
          <a:p>
            <a:pPr indent="0" lvl="0" marL="0" rtl="0" algn="ctr">
              <a:lnSpc>
                <a:spcPct val="80000"/>
              </a:lnSpc>
              <a:spcBef>
                <a:spcPts val="0"/>
              </a:spcBef>
              <a:spcAft>
                <a:spcPts val="0"/>
              </a:spcAft>
              <a:buSzPct val="53658"/>
              <a:buNone/>
            </a:pPr>
            <a:r>
              <a:rPr lang="en" sz="820"/>
              <a:t>1.</a:t>
            </a:r>
            <a:r>
              <a:rPr lang="en" sz="820" u="sng">
                <a:solidFill>
                  <a:schemeClr val="hlink"/>
                </a:solidFill>
                <a:hlinkClick r:id="rId3"/>
              </a:rPr>
              <a:t>https://medium.com/google-cloud/understanding-the-container-storage-interface-csi-ddbeb966a3b</a:t>
            </a:r>
            <a:endParaRPr sz="820"/>
          </a:p>
          <a:p>
            <a:pPr indent="0" lvl="0" marL="0" rtl="0" algn="ctr">
              <a:lnSpc>
                <a:spcPct val="80000"/>
              </a:lnSpc>
              <a:spcBef>
                <a:spcPts val="0"/>
              </a:spcBef>
              <a:spcAft>
                <a:spcPts val="0"/>
              </a:spcAft>
              <a:buSzPct val="53658"/>
              <a:buNone/>
            </a:pPr>
            <a:r>
              <a:rPr lang="en" sz="820"/>
              <a:t>2.</a:t>
            </a:r>
            <a:r>
              <a:rPr lang="en" sz="820" u="sng">
                <a:solidFill>
                  <a:schemeClr val="hlink"/>
                </a:solidFill>
                <a:hlinkClick r:id="rId4"/>
              </a:rPr>
              <a:t>https://docs.redhat.com/en/documentation/openshift_container_platform/4.14/html/storage/using-container-storage-interface-csi#persistent-storage-csi-architecture_persistent-storage-csi</a:t>
            </a:r>
            <a:endParaRPr sz="5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Container Storage Interface (CSI) is an initiative to unify the storage interface of Container Orchestrator Systems (COs) like Kubernetes, Mesos, Docker swarm, cloud foundry, etc. combined with storage vendors like Ceph, Portworx, NetApp etc. </a:t>
            </a:r>
            <a:endParaRPr/>
          </a:p>
          <a:p>
            <a:pPr indent="-342900" lvl="0" marL="457200" rtl="0" algn="l">
              <a:spcBef>
                <a:spcPts val="0"/>
              </a:spcBef>
              <a:spcAft>
                <a:spcPts val="0"/>
              </a:spcAft>
              <a:buSzPts val="1800"/>
              <a:buChar char="❏"/>
            </a:pPr>
            <a:r>
              <a:rPr lang="en"/>
              <a:t>Implementing a single CSI for a storage vendor is guaranteed to work with all COs.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CSI PLUGINS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
            </a:r>
            <a:r>
              <a:rPr lang="en"/>
              <a:t>eveloped by storage providers </a:t>
            </a:r>
            <a:endParaRPr/>
          </a:p>
          <a:p>
            <a:pPr indent="-342900" lvl="0" marL="457200" rtl="0" algn="l">
              <a:spcBef>
                <a:spcPts val="0"/>
              </a:spcBef>
              <a:spcAft>
                <a:spcPts val="0"/>
              </a:spcAft>
              <a:buSzPts val="1800"/>
              <a:buChar char="❏"/>
            </a:pPr>
            <a:r>
              <a:rPr lang="en"/>
              <a:t>To establish a consistent interface between container orchestrators and storage solutions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4" name="Google Shape;74;p16"/>
          <p:cNvPicPr preferRelativeResize="0"/>
          <p:nvPr/>
        </p:nvPicPr>
        <p:blipFill>
          <a:blip r:embed="rId3">
            <a:alphaModFix/>
          </a:blip>
          <a:stretch>
            <a:fillRect/>
          </a:stretch>
        </p:blipFill>
        <p:spPr>
          <a:xfrm>
            <a:off x="1847" y="0"/>
            <a:ext cx="9140307"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Before CSI</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a:t>
            </a:r>
            <a:r>
              <a:rPr lang="en"/>
              <a:t>irst release of CSI v0.1 was in December 2017.</a:t>
            </a:r>
            <a:endParaRPr/>
          </a:p>
          <a:p>
            <a:pPr indent="-342900" lvl="0" marL="457200" rtl="0" algn="l">
              <a:spcBef>
                <a:spcPts val="0"/>
              </a:spcBef>
              <a:spcAft>
                <a:spcPts val="0"/>
              </a:spcAft>
              <a:buSzPts val="1800"/>
              <a:buChar char="❏"/>
            </a:pPr>
            <a:r>
              <a:rPr lang="en"/>
              <a:t>Volume plugins were serving the storage needs for container workloads in case of Kubernetes.</a:t>
            </a:r>
            <a:endParaRPr/>
          </a:p>
          <a:p>
            <a:pPr indent="-342900" lvl="0" marL="457200" rtl="0" algn="l">
              <a:spcBef>
                <a:spcPts val="0"/>
              </a:spcBef>
              <a:spcAft>
                <a:spcPts val="0"/>
              </a:spcAft>
              <a:buSzPts val="1800"/>
              <a:buChar char="❏"/>
            </a:pPr>
            <a:r>
              <a:rPr lang="en"/>
              <a:t>Volume plugins are part of the COs core.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8"/>
          <p:cNvPicPr preferRelativeResize="0"/>
          <p:nvPr/>
        </p:nvPicPr>
        <p:blipFill>
          <a:blip r:embed="rId3">
            <a:alphaModFix/>
          </a:blip>
          <a:stretch>
            <a:fillRect/>
          </a:stretch>
        </p:blipFill>
        <p:spPr>
          <a:xfrm>
            <a:off x="2257" y="0"/>
            <a:ext cx="9139487"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Drawbacks</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V</a:t>
            </a:r>
            <a:r>
              <a:rPr lang="en"/>
              <a:t>olume plugin development is tightly coupled and dependent on Kubernetes releases.</a:t>
            </a:r>
            <a:endParaRPr/>
          </a:p>
          <a:p>
            <a:pPr indent="-342900" lvl="0" marL="457200" rtl="0" algn="l">
              <a:spcBef>
                <a:spcPts val="0"/>
              </a:spcBef>
              <a:spcAft>
                <a:spcPts val="0"/>
              </a:spcAft>
              <a:buSzPts val="1800"/>
              <a:buChar char="❏"/>
            </a:pPr>
            <a:r>
              <a:rPr lang="en"/>
              <a:t>Kubernetes developers/community are responsible for testing and maintaining all volume plugins, instead of just testing and maintaining a stable plugin API.</a:t>
            </a:r>
            <a:endParaRPr/>
          </a:p>
          <a:p>
            <a:pPr indent="-342900" lvl="0" marL="457200" rtl="0" algn="l">
              <a:spcBef>
                <a:spcPts val="0"/>
              </a:spcBef>
              <a:spcAft>
                <a:spcPts val="0"/>
              </a:spcAft>
              <a:buSzPts val="1800"/>
              <a:buChar char="❏"/>
            </a:pPr>
            <a:r>
              <a:rPr lang="en"/>
              <a:t>Bugs in volume plugins can crash critical Kubernetes components, instead of just the plugin.</a:t>
            </a:r>
            <a:endParaRPr/>
          </a:p>
          <a:p>
            <a:pPr indent="-342900" lvl="0" marL="457200" rtl="0" algn="l">
              <a:spcBef>
                <a:spcPts val="0"/>
              </a:spcBef>
              <a:spcAft>
                <a:spcPts val="0"/>
              </a:spcAft>
              <a:buSzPts val="1800"/>
              <a:buChar char="❏"/>
            </a:pPr>
            <a:r>
              <a:rPr lang="en"/>
              <a:t>Volume plugins get full privileges of kubernetes components (kubelet and kube-controller-manager).</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CSI Intro</a:t>
            </a:r>
            <a:endParaRPr/>
          </a:p>
        </p:txBody>
      </p:sp>
      <p:pic>
        <p:nvPicPr>
          <p:cNvPr id="99" name="Google Shape;99;p20"/>
          <p:cNvPicPr preferRelativeResize="0"/>
          <p:nvPr/>
        </p:nvPicPr>
        <p:blipFill>
          <a:blip r:embed="rId3">
            <a:alphaModFix/>
          </a:blip>
          <a:stretch>
            <a:fillRect/>
          </a:stretch>
        </p:blipFill>
        <p:spPr>
          <a:xfrm>
            <a:off x="1176201" y="1017725"/>
            <a:ext cx="6993800" cy="3935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Kubernetes External components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t>
            </a:r>
            <a:r>
              <a:rPr lang="en"/>
              <a:t>eleased by </a:t>
            </a:r>
            <a:r>
              <a:rPr lang="en"/>
              <a:t>Kubernetes team </a:t>
            </a:r>
            <a:endParaRPr/>
          </a:p>
          <a:p>
            <a:pPr indent="-342900" lvl="0" marL="457200" rtl="0" algn="l">
              <a:spcBef>
                <a:spcPts val="0"/>
              </a:spcBef>
              <a:spcAft>
                <a:spcPts val="0"/>
              </a:spcAft>
              <a:buSzPts val="1800"/>
              <a:buChar char="❏"/>
            </a:pPr>
            <a:r>
              <a:rPr lang="en"/>
              <a:t>N</a:t>
            </a:r>
            <a:r>
              <a:rPr lang="en"/>
              <a:t>ot part of the core </a:t>
            </a:r>
            <a:endParaRPr/>
          </a:p>
          <a:p>
            <a:pPr indent="-342900" lvl="0" marL="457200" rtl="0" algn="l">
              <a:spcBef>
                <a:spcPts val="0"/>
              </a:spcBef>
              <a:spcAft>
                <a:spcPts val="0"/>
              </a:spcAft>
              <a:buSzPts val="1800"/>
              <a:buChar char="❏"/>
            </a:pPr>
            <a:r>
              <a:rPr lang="en"/>
              <a:t>Can interact with vendor implemented external components. </a:t>
            </a:r>
            <a:endParaRPr/>
          </a:p>
          <a:p>
            <a:pPr indent="-342900" lvl="0" marL="457200" rtl="0" algn="l">
              <a:spcBef>
                <a:spcPts val="0"/>
              </a:spcBef>
              <a:spcAft>
                <a:spcPts val="0"/>
              </a:spcAft>
              <a:buSzPts val="1800"/>
              <a:buChar char="❏"/>
            </a:pPr>
            <a:r>
              <a:rPr lang="en"/>
              <a:t>External components can communicate to each other over gRPC on domain sockets.</a:t>
            </a:r>
            <a:endParaRPr/>
          </a:p>
          <a:p>
            <a:pPr indent="-342900" lvl="0" marL="457200" rtl="0" algn="l">
              <a:spcBef>
                <a:spcPts val="0"/>
              </a:spcBef>
              <a:spcAft>
                <a:spcPts val="0"/>
              </a:spcAft>
              <a:buSzPts val="1800"/>
              <a:buChar char="❏"/>
            </a:pPr>
            <a:r>
              <a:rPr lang="en"/>
              <a:t>Completely implemented and maintained by the Kubernetes team</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Driver registrar </a:t>
            </a:r>
            <a:endParaRPr/>
          </a:p>
          <a:p>
            <a:pPr indent="-317500" lvl="1" marL="914400" rtl="0" algn="l">
              <a:spcBef>
                <a:spcPts val="0"/>
              </a:spcBef>
              <a:spcAft>
                <a:spcPts val="0"/>
              </a:spcAft>
              <a:buSzPts val="1400"/>
              <a:buChar char="❏"/>
            </a:pPr>
            <a:r>
              <a:rPr lang="en"/>
              <a:t>Sidecar container that registers the CSI driver with kubelet, and adds the drivers custom NodeId to a label on the Kubernetes Node API Object. </a:t>
            </a:r>
            <a:endParaRPr/>
          </a:p>
          <a:p>
            <a:pPr indent="-317500" lvl="1" marL="914400" rtl="0" algn="l">
              <a:spcBef>
                <a:spcPts val="0"/>
              </a:spcBef>
              <a:spcAft>
                <a:spcPts val="0"/>
              </a:spcAft>
              <a:buSzPts val="1400"/>
              <a:buChar char="❏"/>
            </a:pPr>
            <a:r>
              <a:rPr lang="en"/>
              <a:t>It does this by communicating with the Identity service on the CSI driver and also calling the CSI GetNodeId operation.</a:t>
            </a:r>
            <a:endParaRPr/>
          </a:p>
          <a:p>
            <a:pPr indent="-342900" lvl="0" marL="457200" rtl="0" algn="l">
              <a:spcBef>
                <a:spcPts val="0"/>
              </a:spcBef>
              <a:spcAft>
                <a:spcPts val="0"/>
              </a:spcAft>
              <a:buSzPts val="1800"/>
              <a:buChar char="❏"/>
            </a:pPr>
            <a:r>
              <a:rPr lang="en"/>
              <a:t>External provisioner</a:t>
            </a:r>
            <a:endParaRPr/>
          </a:p>
          <a:p>
            <a:pPr indent="-317500" lvl="1" marL="914400" rtl="0" algn="l">
              <a:spcBef>
                <a:spcPts val="0"/>
              </a:spcBef>
              <a:spcAft>
                <a:spcPts val="0"/>
              </a:spcAft>
              <a:buSzPts val="1400"/>
              <a:buChar char="❏"/>
            </a:pPr>
            <a:r>
              <a:rPr lang="en"/>
              <a:t>Sidecar container that watches Kubernetes PersistentVolumeClaim objects and triggers CSI CreateVolume and DeleteVolume operations against a driver endpoint.</a:t>
            </a:r>
            <a:endParaRPr/>
          </a:p>
          <a:p>
            <a:pPr indent="-342900" lvl="0" marL="457200" rtl="0" algn="l">
              <a:spcBef>
                <a:spcPts val="0"/>
              </a:spcBef>
              <a:spcAft>
                <a:spcPts val="0"/>
              </a:spcAft>
              <a:buSzPts val="1800"/>
              <a:buChar char="❏"/>
            </a:pPr>
            <a:r>
              <a:rPr lang="en"/>
              <a:t>External attacher</a:t>
            </a:r>
            <a:endParaRPr/>
          </a:p>
          <a:p>
            <a:pPr indent="-317500" lvl="1" marL="914400" rtl="0" algn="l">
              <a:spcBef>
                <a:spcPts val="0"/>
              </a:spcBef>
              <a:spcAft>
                <a:spcPts val="0"/>
              </a:spcAft>
              <a:buSzPts val="1400"/>
              <a:buChar char="❏"/>
            </a:pPr>
            <a:r>
              <a:rPr lang="en"/>
              <a:t>Sidecar container that watches Kubernetes VolumeAttachment objects and triggers CSI ControllerPublish and ControllerUnpublish operations against a driver endpoint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vendor/3rd-party external component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V</a:t>
            </a:r>
            <a:r>
              <a:rPr lang="en"/>
              <a:t>endor specific implementation.</a:t>
            </a:r>
            <a:endParaRPr/>
          </a:p>
          <a:p>
            <a:pPr indent="-342900" lvl="0" marL="457200" rtl="0" algn="l">
              <a:spcBef>
                <a:spcPts val="0"/>
              </a:spcBef>
              <a:spcAft>
                <a:spcPts val="0"/>
              </a:spcAft>
              <a:buSzPts val="1800"/>
              <a:buChar char="❏"/>
            </a:pPr>
            <a:r>
              <a:rPr lang="en"/>
              <a:t>Each vendor should implement their respective APIs into gRPC service functions. E.g. Implementation of GCE PD, Ceph, etc.</a:t>
            </a:r>
            <a:endParaRPr/>
          </a:p>
          <a:p>
            <a:pPr indent="-342900" lvl="0" marL="457200" rtl="0" algn="l">
              <a:spcBef>
                <a:spcPts val="0"/>
              </a:spcBef>
              <a:spcAft>
                <a:spcPts val="0"/>
              </a:spcAft>
              <a:buSzPts val="1800"/>
              <a:buChar char="❏"/>
            </a:pPr>
            <a:r>
              <a:rPr b="1" lang="en"/>
              <a:t>CSI Identity</a:t>
            </a:r>
            <a:r>
              <a:rPr lang="en"/>
              <a:t> </a:t>
            </a:r>
            <a:endParaRPr/>
          </a:p>
          <a:p>
            <a:pPr indent="-317500" lvl="1" marL="914400" rtl="0" algn="l">
              <a:spcBef>
                <a:spcPts val="0"/>
              </a:spcBef>
              <a:spcAft>
                <a:spcPts val="0"/>
              </a:spcAft>
              <a:buSzPts val="1400"/>
              <a:buChar char="❏"/>
            </a:pPr>
            <a:r>
              <a:rPr lang="en"/>
              <a:t>Identifying the plugin service, making sure it’s healthy, and returning basic information about the plugin itself.</a:t>
            </a:r>
            <a:endParaRPr/>
          </a:p>
          <a:p>
            <a:pPr indent="-342900" lvl="0" marL="457200" rtl="0" algn="l">
              <a:spcBef>
                <a:spcPts val="0"/>
              </a:spcBef>
              <a:spcAft>
                <a:spcPts val="0"/>
              </a:spcAft>
              <a:buSzPts val="1800"/>
              <a:buChar char="❏"/>
            </a:pPr>
            <a:r>
              <a:rPr b="1" lang="en"/>
              <a:t>CSI Controller</a:t>
            </a:r>
            <a:endParaRPr b="1"/>
          </a:p>
          <a:p>
            <a:pPr indent="-317500" lvl="1" marL="914400" rtl="0" algn="l">
              <a:spcBef>
                <a:spcPts val="0"/>
              </a:spcBef>
              <a:spcAft>
                <a:spcPts val="0"/>
              </a:spcAft>
              <a:buSzPts val="1400"/>
              <a:buChar char="❏"/>
            </a:pPr>
            <a:r>
              <a:rPr lang="en"/>
              <a:t>Controlling and managing the volumes, such as: creating, deleting, attaching/detaching, snapshotting, etc.</a:t>
            </a:r>
            <a:endParaRPr/>
          </a:p>
          <a:p>
            <a:pPr indent="-342900" lvl="0" marL="457200" rtl="0" algn="l">
              <a:spcBef>
                <a:spcPts val="0"/>
              </a:spcBef>
              <a:spcAft>
                <a:spcPts val="0"/>
              </a:spcAft>
              <a:buSzPts val="1800"/>
              <a:buChar char="❏"/>
            </a:pPr>
            <a:r>
              <a:rPr b="1" lang="en"/>
              <a:t>CSI Node</a:t>
            </a:r>
            <a:endParaRPr b="1"/>
          </a:p>
          <a:p>
            <a:pPr indent="-317500" lvl="1" marL="914400" rtl="0" algn="l">
              <a:spcBef>
                <a:spcPts val="0"/>
              </a:spcBef>
              <a:spcAft>
                <a:spcPts val="0"/>
              </a:spcAft>
              <a:buSzPts val="1400"/>
              <a:buChar char="❏"/>
            </a:pPr>
            <a:r>
              <a:rPr lang="en"/>
              <a:t>Controlling volume’s action in the kubernetes node</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CSI ARCHITECTURE IN OPENSHIFT</a:t>
            </a:r>
            <a:endParaRPr/>
          </a:p>
        </p:txBody>
      </p:sp>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CSI drivers are typically shipped as container images. </a:t>
            </a:r>
            <a:endParaRPr/>
          </a:p>
          <a:p>
            <a:pPr indent="-342900" lvl="0" marL="457200" rtl="0" algn="l">
              <a:spcBef>
                <a:spcPts val="0"/>
              </a:spcBef>
              <a:spcAft>
                <a:spcPts val="0"/>
              </a:spcAft>
              <a:buSzPts val="1800"/>
              <a:buChar char="❏"/>
            </a:pPr>
            <a:r>
              <a:rPr lang="en"/>
              <a:t>Containers are not aware of OpenShift Container Platform where they run. </a:t>
            </a:r>
            <a:endParaRPr/>
          </a:p>
          <a:p>
            <a:pPr indent="-342900" lvl="0" marL="457200" rtl="0" algn="l">
              <a:spcBef>
                <a:spcPts val="0"/>
              </a:spcBef>
              <a:spcAft>
                <a:spcPts val="0"/>
              </a:spcAft>
              <a:buSzPts val="1800"/>
              <a:buChar char="❏"/>
            </a:pPr>
            <a:r>
              <a:rPr lang="en"/>
              <a:t>To use CSI-compatible storage back end in OpenShift Container Platform, the cluster administrator must deploy several components that serve as a bridge between OpenShift Container Platform and the storage driver.</a:t>
            </a:r>
            <a:endParaRPr/>
          </a:p>
          <a:p>
            <a:pPr indent="-342900" lvl="0" marL="457200" rtl="0" algn="l">
              <a:spcBef>
                <a:spcPts val="0"/>
              </a:spcBef>
              <a:spcAft>
                <a:spcPts val="0"/>
              </a:spcAft>
              <a:buSzPts val="1800"/>
              <a:buChar char="❏"/>
            </a:pPr>
            <a:r>
              <a:rPr lang="en"/>
              <a:t>Different storage </a:t>
            </a:r>
            <a:r>
              <a:rPr lang="en"/>
              <a:t>backends-multiple CSI drivers </a:t>
            </a:r>
            <a:endParaRPr/>
          </a:p>
          <a:p>
            <a:pPr indent="-342900" lvl="0" marL="457200" rtl="0" algn="l">
              <a:spcBef>
                <a:spcPts val="0"/>
              </a:spcBef>
              <a:spcAft>
                <a:spcPts val="0"/>
              </a:spcAft>
              <a:buSzPts val="1800"/>
              <a:buChar char="❏"/>
            </a:pPr>
            <a:r>
              <a:rPr lang="en"/>
              <a:t>Each driver needs its own </a:t>
            </a:r>
            <a:endParaRPr/>
          </a:p>
          <a:p>
            <a:pPr indent="-317500" lvl="1" marL="914400" rtl="0" algn="l">
              <a:spcBef>
                <a:spcPts val="0"/>
              </a:spcBef>
              <a:spcAft>
                <a:spcPts val="0"/>
              </a:spcAft>
              <a:buSzPts val="1400"/>
              <a:buChar char="❏"/>
            </a:pPr>
            <a:r>
              <a:rPr lang="en"/>
              <a:t>External controllers deployment and </a:t>
            </a:r>
            <a:endParaRPr/>
          </a:p>
          <a:p>
            <a:pPr indent="-317500" lvl="1" marL="914400" rtl="0" algn="l">
              <a:spcBef>
                <a:spcPts val="0"/>
              </a:spcBef>
              <a:spcAft>
                <a:spcPts val="0"/>
              </a:spcAft>
              <a:buSzPts val="1400"/>
              <a:buChar char="❏"/>
            </a:pPr>
            <a:r>
              <a:rPr lang="en"/>
              <a:t>Daemon set with the driver and CSI registrar.</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5"/>
          <p:cNvPicPr preferRelativeResize="0"/>
          <p:nvPr/>
        </p:nvPicPr>
        <p:blipFill>
          <a:blip r:embed="rId3">
            <a:alphaModFix/>
          </a:blip>
          <a:stretch>
            <a:fillRect/>
          </a:stretch>
        </p:blipFill>
        <p:spPr>
          <a:xfrm>
            <a:off x="1416825" y="541575"/>
            <a:ext cx="6605050" cy="41976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CSI controllers</a:t>
            </a:r>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External CSI controllers is a deployment that deploys one or more pods with </a:t>
            </a:r>
            <a:r>
              <a:rPr b="1" lang="en"/>
              <a:t>five containers</a:t>
            </a:r>
            <a:r>
              <a:rPr lang="en"/>
              <a:t>:</a:t>
            </a:r>
            <a:endParaRPr/>
          </a:p>
          <a:p>
            <a:pPr indent="0" lvl="0" marL="457200" rtl="0" algn="l">
              <a:spcBef>
                <a:spcPts val="1200"/>
              </a:spcBef>
              <a:spcAft>
                <a:spcPts val="0"/>
              </a:spcAft>
              <a:buNone/>
            </a:pPr>
            <a:r>
              <a:t/>
            </a:r>
            <a:endParaRPr/>
          </a:p>
          <a:p>
            <a:pPr indent="-317500" lvl="1" marL="914400" rtl="0" algn="l">
              <a:spcBef>
                <a:spcPts val="1200"/>
              </a:spcBef>
              <a:spcAft>
                <a:spcPts val="0"/>
              </a:spcAft>
              <a:buSzPts val="1400"/>
              <a:buChar char="❏"/>
            </a:pPr>
            <a:r>
              <a:rPr lang="en"/>
              <a:t>The </a:t>
            </a:r>
            <a:r>
              <a:rPr b="1" lang="en"/>
              <a:t>snapshotter container</a:t>
            </a:r>
            <a:r>
              <a:rPr lang="en"/>
              <a:t> watches VolumeSnapshot and VolumeSnapshotContent objects and is responsible for the creation and deletion of VolumeSnapshotContent object.</a:t>
            </a:r>
            <a:endParaRPr/>
          </a:p>
          <a:p>
            <a:pPr indent="0" lvl="0" marL="0" rtl="0" algn="l">
              <a:spcBef>
                <a:spcPts val="1200"/>
              </a:spcBef>
              <a:spcAft>
                <a:spcPts val="0"/>
              </a:spcAft>
              <a:buNone/>
            </a:pPr>
            <a:r>
              <a:t/>
            </a:r>
            <a:endParaRPr/>
          </a:p>
          <a:p>
            <a:pPr indent="-317500" lvl="1" marL="914400" rtl="0" algn="l">
              <a:spcBef>
                <a:spcPts val="1200"/>
              </a:spcBef>
              <a:spcAft>
                <a:spcPts val="0"/>
              </a:spcAft>
              <a:buSzPts val="1400"/>
              <a:buChar char="❏"/>
            </a:pPr>
            <a:r>
              <a:rPr lang="en"/>
              <a:t>The </a:t>
            </a:r>
            <a:r>
              <a:rPr b="1" lang="en"/>
              <a:t>resizer container</a:t>
            </a:r>
            <a:r>
              <a:rPr lang="en"/>
              <a:t> is a sidecar container that watches for PersistentVolumeClaim updates and triggers ControllerExpandVolume operations against a CSI endpoint if you request more storage on PersistentVolumeClaim object.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CSI controllers</a:t>
            </a:r>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 </a:t>
            </a:r>
            <a:r>
              <a:rPr b="1" lang="en"/>
              <a:t>external CSI attacher </a:t>
            </a:r>
            <a:r>
              <a:rPr lang="en"/>
              <a:t>container translates attach and detach calls from OpenShift Container Platform to respective ControllerPublish and ControllerUnpublish calls to the CSI driver.</a:t>
            </a:r>
            <a:endParaRPr/>
          </a:p>
          <a:p>
            <a:pPr indent="-342900" lvl="0" marL="457200" rtl="0" algn="l">
              <a:spcBef>
                <a:spcPts val="0"/>
              </a:spcBef>
              <a:spcAft>
                <a:spcPts val="0"/>
              </a:spcAft>
              <a:buSzPts val="1800"/>
              <a:buChar char="❏"/>
            </a:pPr>
            <a:r>
              <a:rPr lang="en"/>
              <a:t>An </a:t>
            </a:r>
            <a:r>
              <a:rPr b="1" lang="en"/>
              <a:t>external CSI provisioner</a:t>
            </a:r>
            <a:r>
              <a:rPr lang="en"/>
              <a:t> container that translates provision and delete calls from OpenShift Container Platform to respective CreateVolume and DeleteVolume calls to the CSI driver</a:t>
            </a:r>
            <a:endParaRPr/>
          </a:p>
          <a:p>
            <a:pPr indent="-342900" lvl="0" marL="457200" rtl="0" algn="l">
              <a:spcBef>
                <a:spcPts val="0"/>
              </a:spcBef>
              <a:spcAft>
                <a:spcPts val="0"/>
              </a:spcAft>
              <a:buSzPts val="1800"/>
              <a:buChar char="❏"/>
            </a:pPr>
            <a:r>
              <a:rPr lang="en"/>
              <a:t>A </a:t>
            </a:r>
            <a:r>
              <a:rPr b="1" lang="en"/>
              <a:t>CSI driver containe</a:t>
            </a:r>
            <a:r>
              <a:rPr lang="en"/>
              <a:t>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CSI controllers</a:t>
            </a:r>
            <a:endParaRPr/>
          </a:p>
        </p:txBody>
      </p:sp>
      <p:sp>
        <p:nvSpPr>
          <p:cNvPr id="146" name="Google Shape;14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42900" lvl="0" marL="457200" rtl="0" algn="l">
              <a:spcBef>
                <a:spcPts val="1200"/>
              </a:spcBef>
              <a:spcAft>
                <a:spcPts val="0"/>
              </a:spcAft>
              <a:buSzPts val="1800"/>
              <a:buChar char="❏"/>
            </a:pPr>
            <a:r>
              <a:rPr lang="en"/>
              <a:t>The </a:t>
            </a:r>
            <a:r>
              <a:rPr b="1" lang="en"/>
              <a:t>CSI attacher</a:t>
            </a:r>
            <a:r>
              <a:rPr lang="en"/>
              <a:t> and </a:t>
            </a:r>
            <a:r>
              <a:rPr b="1" lang="en"/>
              <a:t>CSI provisioner</a:t>
            </a:r>
            <a:r>
              <a:rPr lang="en"/>
              <a:t> containers communicate with the CSI driver container using </a:t>
            </a:r>
            <a:r>
              <a:rPr b="1" lang="en"/>
              <a:t>UNIX Domain Sockets</a:t>
            </a:r>
            <a:r>
              <a:rPr lang="en"/>
              <a:t>, ensuring that no CSI communication leaves the pod. </a:t>
            </a:r>
            <a:endParaRPr/>
          </a:p>
          <a:p>
            <a:pPr indent="-342900" lvl="0" marL="457200" rtl="0" algn="l">
              <a:spcBef>
                <a:spcPts val="0"/>
              </a:spcBef>
              <a:spcAft>
                <a:spcPts val="0"/>
              </a:spcAft>
              <a:buSzPts val="1800"/>
              <a:buChar char="❏"/>
            </a:pPr>
            <a:r>
              <a:rPr lang="en"/>
              <a:t>The CSI driver is not accessible from outside of the pod.</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n" sz="1800">
                <a:solidFill>
                  <a:schemeClr val="lt2"/>
                </a:solidFill>
              </a:rPr>
              <a:t>CSI driver daemon set</a:t>
            </a:r>
            <a:endParaRPr b="1"/>
          </a:p>
        </p:txBody>
      </p:sp>
      <p:sp>
        <p:nvSpPr>
          <p:cNvPr id="152" name="Google Shape;15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R</a:t>
            </a:r>
            <a:r>
              <a:rPr lang="en"/>
              <a:t>uns a pod on every node.</a:t>
            </a:r>
            <a:endParaRPr/>
          </a:p>
          <a:p>
            <a:pPr indent="-334327" lvl="0" marL="457200" rtl="0" algn="l">
              <a:spcBef>
                <a:spcPts val="0"/>
              </a:spcBef>
              <a:spcAft>
                <a:spcPts val="0"/>
              </a:spcAft>
              <a:buSzPct val="100000"/>
              <a:buChar char="❏"/>
            </a:pPr>
            <a:r>
              <a:rPr lang="en"/>
              <a:t>Allows OpenShift Container Platform to mount storage provided by the CSI driver to the node and use it in user workloads (pods) as persistent volumes (PVs). </a:t>
            </a:r>
            <a:endParaRPr/>
          </a:p>
          <a:p>
            <a:pPr indent="-334327" lvl="0" marL="457200" rtl="0" algn="l">
              <a:spcBef>
                <a:spcPts val="0"/>
              </a:spcBef>
              <a:spcAft>
                <a:spcPts val="0"/>
              </a:spcAft>
              <a:buSzPct val="100000"/>
              <a:buChar char="❏"/>
            </a:pPr>
            <a:r>
              <a:rPr lang="en"/>
              <a:t>Pod with the CSI driver installed contains the following containers:</a:t>
            </a:r>
            <a:endParaRPr/>
          </a:p>
          <a:p>
            <a:pPr indent="-310832" lvl="1" marL="914400" rtl="0" algn="l">
              <a:spcBef>
                <a:spcPts val="0"/>
              </a:spcBef>
              <a:spcAft>
                <a:spcPts val="0"/>
              </a:spcAft>
              <a:buSzPct val="100000"/>
              <a:buChar char="❏"/>
            </a:pPr>
            <a:r>
              <a:rPr lang="en"/>
              <a:t>A CSI driver registrar, which registers the CSI driver into the openshift-node service running on the node. </a:t>
            </a:r>
            <a:endParaRPr/>
          </a:p>
          <a:p>
            <a:pPr indent="-310832" lvl="1" marL="914400" rtl="0" algn="l">
              <a:spcBef>
                <a:spcPts val="0"/>
              </a:spcBef>
              <a:spcAft>
                <a:spcPts val="0"/>
              </a:spcAft>
              <a:buSzPct val="100000"/>
              <a:buChar char="❏"/>
            </a:pPr>
            <a:r>
              <a:rPr lang="en"/>
              <a:t>A CSI driver.</a:t>
            </a:r>
            <a:endParaRPr/>
          </a:p>
          <a:p>
            <a:pPr indent="-310832" lvl="2" marL="1371600" rtl="0" algn="l">
              <a:spcBef>
                <a:spcPts val="0"/>
              </a:spcBef>
              <a:spcAft>
                <a:spcPts val="0"/>
              </a:spcAft>
              <a:buSzPct val="100000"/>
              <a:buChar char="❏"/>
            </a:pPr>
            <a:r>
              <a:rPr lang="en"/>
              <a:t>The CSI driver deployed on the node should have as few credentials to the storage back end as possible. </a:t>
            </a:r>
            <a:endParaRPr/>
          </a:p>
          <a:p>
            <a:pPr indent="-310832" lvl="2" marL="1371600" rtl="0" algn="l">
              <a:spcBef>
                <a:spcPts val="0"/>
              </a:spcBef>
              <a:spcAft>
                <a:spcPts val="0"/>
              </a:spcAft>
              <a:buSzPct val="100000"/>
              <a:buChar char="❏"/>
            </a:pPr>
            <a:r>
              <a:rPr lang="en"/>
              <a:t>OpenShift Container Platform will only use the node plugin set of CSI calls such as NodePublish/NodeUnpublish and NodeStage/NodeUnstage, if these calls are implemented.</a:t>
            </a:r>
            <a:endParaRPr/>
          </a:p>
          <a:p>
            <a:pPr indent="-310832" lvl="0" marL="457200" rtl="0" algn="l">
              <a:spcBef>
                <a:spcPts val="0"/>
              </a:spcBef>
              <a:spcAft>
                <a:spcPts val="0"/>
              </a:spcAft>
              <a:buSzPct val="100000"/>
              <a:buChar char="❏"/>
            </a:pPr>
            <a:r>
              <a:rPr lang="en" sz="1400"/>
              <a:t>The openshift-node process running on the node then directly connects with the CSI driver using the UNIX Domain Socket available on the node.</a:t>
            </a:r>
            <a:endParaRPr sz="1400"/>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